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8" r:id="rId3"/>
    <p:sldId id="260" r:id="rId4"/>
    <p:sldId id="265" r:id="rId5"/>
    <p:sldId id="267" r:id="rId6"/>
    <p:sldId id="257" r:id="rId7"/>
    <p:sldId id="261" r:id="rId8"/>
    <p:sldId id="266" r:id="rId9"/>
    <p:sldId id="262" r:id="rId10"/>
    <p:sldId id="264"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7" d="100"/>
          <a:sy n="87" d="100"/>
        </p:scale>
        <p:origin x="499"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198E4-4FE1-4299-9EAA-883A4D43344E}" type="datetimeFigureOut">
              <a:rPr lang="en-US" smtClean="0"/>
              <a:t>4/29/2025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07E89-EB86-46B8-90F2-6D348B71748F}" type="slidenum">
              <a:rPr lang="en-US" smtClean="0"/>
              <a:t>‹#›</a:t>
            </a:fld>
            <a:endParaRPr lang="en-US"/>
          </a:p>
        </p:txBody>
      </p:sp>
    </p:spTree>
    <p:extLst>
      <p:ext uri="{BB962C8B-B14F-4D97-AF65-F5344CB8AC3E}">
        <p14:creationId xmlns:p14="http://schemas.microsoft.com/office/powerpoint/2010/main" val="2380638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707E89-EB86-46B8-90F2-6D348B71748F}" type="slidenum">
              <a:rPr lang="en-US" smtClean="0"/>
              <a:t>7</a:t>
            </a:fld>
            <a:endParaRPr lang="en-US"/>
          </a:p>
        </p:txBody>
      </p:sp>
    </p:spTree>
    <p:extLst>
      <p:ext uri="{BB962C8B-B14F-4D97-AF65-F5344CB8AC3E}">
        <p14:creationId xmlns:p14="http://schemas.microsoft.com/office/powerpoint/2010/main" val="281290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966A-C37C-B452-FD42-5960059BA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F213C0-9394-C6E4-763F-A10DE2768C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35C4A1-3A33-C523-A89E-E223A36ED5AF}"/>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5" name="Footer Placeholder 4">
            <a:extLst>
              <a:ext uri="{FF2B5EF4-FFF2-40B4-BE49-F238E27FC236}">
                <a16:creationId xmlns:a16="http://schemas.microsoft.com/office/drawing/2014/main" id="{C77FD34C-46AA-7BE5-44AF-FDC6CCC2A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2A9B7-AC62-0EF9-74C2-1C01670FA6F7}"/>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169520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74E2B-B2A6-03CF-E27F-AC1127ADA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32123A-85A3-A6B3-9486-3C323E7283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48BF58-A761-678D-80E9-F49750712494}"/>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5" name="Footer Placeholder 4">
            <a:extLst>
              <a:ext uri="{FF2B5EF4-FFF2-40B4-BE49-F238E27FC236}">
                <a16:creationId xmlns:a16="http://schemas.microsoft.com/office/drawing/2014/main" id="{BD16C989-DE5D-0AFE-5BD4-3413BE7B3E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33246A-1032-BEAD-46E4-EA251AB6875C}"/>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3717345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9AF0-1050-5748-CCEE-83B7D6FF9E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E990C5-A9E3-7886-81FA-7F62154FE3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30A04F-E389-E026-EDD1-9EFEF1E9EEA5}"/>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5" name="Footer Placeholder 4">
            <a:extLst>
              <a:ext uri="{FF2B5EF4-FFF2-40B4-BE49-F238E27FC236}">
                <a16:creationId xmlns:a16="http://schemas.microsoft.com/office/drawing/2014/main" id="{292619F7-33B5-6A60-6362-D6EBB78DB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D5A57-B6AA-42EE-2DF1-542735D2DDC6}"/>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2800030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B12A-5A02-6ECE-1CD7-567A3A55E3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DE6B1C-308B-CC63-5DBC-1B8E70230B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D96ED9-C832-ADED-AC0E-D275F9B6B1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A66F96-2BB4-B22F-B600-D3D455F68AB7}"/>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6" name="Footer Placeholder 5">
            <a:extLst>
              <a:ext uri="{FF2B5EF4-FFF2-40B4-BE49-F238E27FC236}">
                <a16:creationId xmlns:a16="http://schemas.microsoft.com/office/drawing/2014/main" id="{F9E0216F-DC3B-EF38-D9A2-42F2052C9A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A92D4-6C36-AFC9-D03D-CF80A4FF9F0F}"/>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385881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4F1E7-959F-625F-60E3-E31026F0C1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433225-58DC-4E0B-BEEF-1A03486C3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D1BAC-3343-4364-BD17-903CE9E9CB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0D1C07-2FE0-7825-1DCA-F741D5073C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763FD7-37A9-FB8F-5736-1957D38FBF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633735-D6E2-1F0C-D95E-1F39E58A62F0}"/>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8" name="Footer Placeholder 7">
            <a:extLst>
              <a:ext uri="{FF2B5EF4-FFF2-40B4-BE49-F238E27FC236}">
                <a16:creationId xmlns:a16="http://schemas.microsoft.com/office/drawing/2014/main" id="{5330AF92-ABEF-6C52-1863-CEDC96C451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717E60-381C-AC89-0ED2-0A4DF176650A}"/>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363751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E9F1-7DA8-FBFB-85BA-1C81768B4A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29AE49-9702-58EA-458A-4289AA9E30F7}"/>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4" name="Footer Placeholder 3">
            <a:extLst>
              <a:ext uri="{FF2B5EF4-FFF2-40B4-BE49-F238E27FC236}">
                <a16:creationId xmlns:a16="http://schemas.microsoft.com/office/drawing/2014/main" id="{3D4DB9DE-6528-22AC-9469-11321D1899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5D6B62-6CB4-D1D9-4133-D21BC2B957CD}"/>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710775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C8D00-0C15-B530-D101-4B425650BA34}"/>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3" name="Footer Placeholder 2">
            <a:extLst>
              <a:ext uri="{FF2B5EF4-FFF2-40B4-BE49-F238E27FC236}">
                <a16:creationId xmlns:a16="http://schemas.microsoft.com/office/drawing/2014/main" id="{DE566292-B43F-5EA4-C1D0-DAE4D9596B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65AA65-3FC4-3297-34E2-80B89729B892}"/>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362036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6F16-9189-457A-EDB1-533EE6CAE6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EB3572-85E6-A6C6-2318-151DCDCCA3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6AD314-9AA7-54D1-72C9-6D027C7CFB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365350-0344-7D63-6EEB-3F42C3831E11}"/>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6" name="Footer Placeholder 5">
            <a:extLst>
              <a:ext uri="{FF2B5EF4-FFF2-40B4-BE49-F238E27FC236}">
                <a16:creationId xmlns:a16="http://schemas.microsoft.com/office/drawing/2014/main" id="{4AE604B6-45CE-9C31-4B09-35134BB613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A94E61-D81B-415E-3A7E-3FCD1F3080B3}"/>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3923631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5A85-C2B9-576C-A8EC-B387F1C6D9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5B0B2A-DF4C-A460-58E7-35303871FE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B06CD-F97A-1FDB-7373-DCA082C74E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0AF9BF-23E9-B614-D3C3-449E2CF75FBB}"/>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6" name="Footer Placeholder 5">
            <a:extLst>
              <a:ext uri="{FF2B5EF4-FFF2-40B4-BE49-F238E27FC236}">
                <a16:creationId xmlns:a16="http://schemas.microsoft.com/office/drawing/2014/main" id="{31A30E68-5CDA-354B-4303-B25FF20005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F9096-9134-6A2E-92D1-475BDBFE2E9C}"/>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18693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40111-231C-6217-C834-A768EC8528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42E390-6DF0-5A9C-7362-C95338020C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1546A-9DFC-F6B4-0E4F-FBE1F444E93A}"/>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5" name="Footer Placeholder 4">
            <a:extLst>
              <a:ext uri="{FF2B5EF4-FFF2-40B4-BE49-F238E27FC236}">
                <a16:creationId xmlns:a16="http://schemas.microsoft.com/office/drawing/2014/main" id="{A878914D-8652-DB92-EAA9-62A8D56FF6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4438A2-3A4B-1B9A-42B1-0F5F4D207F37}"/>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3272982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20F00F-1831-2E6C-65B3-2676E39F12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86EEB2-30D3-B9AE-1007-A4BA52D48A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FB965B-906A-F2FC-6FA8-C939D2210D88}"/>
              </a:ext>
            </a:extLst>
          </p:cNvPr>
          <p:cNvSpPr>
            <a:spLocks noGrp="1"/>
          </p:cNvSpPr>
          <p:nvPr>
            <p:ph type="dt" sz="half" idx="10"/>
          </p:nvPr>
        </p:nvSpPr>
        <p:spPr/>
        <p:txBody>
          <a:bodyPr/>
          <a:lstStyle/>
          <a:p>
            <a:fld id="{3EF67818-C18B-46F0-AF65-0CF89B93B556}" type="datetimeFigureOut">
              <a:rPr lang="en-US" smtClean="0"/>
              <a:t>4/29/2025</a:t>
            </a:fld>
            <a:endParaRPr lang="en-US"/>
          </a:p>
        </p:txBody>
      </p:sp>
      <p:sp>
        <p:nvSpPr>
          <p:cNvPr id="5" name="Footer Placeholder 4">
            <a:extLst>
              <a:ext uri="{FF2B5EF4-FFF2-40B4-BE49-F238E27FC236}">
                <a16:creationId xmlns:a16="http://schemas.microsoft.com/office/drawing/2014/main" id="{D15E8356-FA0E-192D-2BE7-9AFAD27BBD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89CAB-9B55-F380-1C13-B4021B972EFF}"/>
              </a:ext>
            </a:extLst>
          </p:cNvPr>
          <p:cNvSpPr>
            <a:spLocks noGrp="1"/>
          </p:cNvSpPr>
          <p:nvPr>
            <p:ph type="sldNum" sz="quarter" idx="12"/>
          </p:nvPr>
        </p:nvSpPr>
        <p:spPr/>
        <p:txBody>
          <a:bodyPr/>
          <a:lstStyle/>
          <a:p>
            <a:fld id="{574260F2-7B62-4541-985D-CDC3CF5A2CF4}" type="slidenum">
              <a:rPr lang="en-US" smtClean="0"/>
              <a:t>‹#›</a:t>
            </a:fld>
            <a:endParaRPr lang="en-US"/>
          </a:p>
        </p:txBody>
      </p:sp>
    </p:spTree>
    <p:extLst>
      <p:ext uri="{BB962C8B-B14F-4D97-AF65-F5344CB8AC3E}">
        <p14:creationId xmlns:p14="http://schemas.microsoft.com/office/powerpoint/2010/main" val="1573147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FA0EA9E-5EE1-1F48-B60F-91C53D425107}"/>
              </a:ext>
            </a:extLst>
          </p:cNvPr>
          <p:cNvGraphicFramePr>
            <a:graphicFrameLocks noChangeAspect="1"/>
          </p:cNvGraphicFramePr>
          <p:nvPr userDrawn="1">
            <p:custDataLst>
              <p:tags r:id="rId13"/>
            </p:custDataLst>
            <p:extLst>
              <p:ext uri="{D42A27DB-BD31-4B8C-83A1-F6EECF244321}">
                <p14:modId xmlns:p14="http://schemas.microsoft.com/office/powerpoint/2010/main" val="39302064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84" imgH="486" progId="TCLayout.ActiveDocument.1">
                  <p:embed/>
                </p:oleObj>
              </mc:Choice>
              <mc:Fallback>
                <p:oleObj name="think-cell Slide" r:id="rId14" imgW="484" imgH="486" progId="TCLayout.ActiveDocument.1">
                  <p:embed/>
                  <p:pic>
                    <p:nvPicPr>
                      <p:cNvPr id="0" name=""/>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78C2403-B542-AA79-EE13-1154199BD9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F19369-FB84-9C20-F676-2626D57677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2B971-E249-2346-CCF5-C282658E96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F67818-C18B-46F0-AF65-0CF89B93B556}" type="datetimeFigureOut">
              <a:rPr lang="en-US" smtClean="0"/>
              <a:t>4/29/2025</a:t>
            </a:fld>
            <a:endParaRPr lang="en-US"/>
          </a:p>
        </p:txBody>
      </p:sp>
      <p:sp>
        <p:nvSpPr>
          <p:cNvPr id="5" name="Footer Placeholder 4">
            <a:extLst>
              <a:ext uri="{FF2B5EF4-FFF2-40B4-BE49-F238E27FC236}">
                <a16:creationId xmlns:a16="http://schemas.microsoft.com/office/drawing/2014/main" id="{0E3B10C0-371A-5962-26DF-8E34218A1E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007E16-2692-5595-1999-49064B19E3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4260F2-7B62-4541-985D-CDC3CF5A2CF4}" type="slidenum">
              <a:rPr lang="en-US" smtClean="0"/>
              <a:t>‹#›</a:t>
            </a:fld>
            <a:endParaRPr lang="en-US"/>
          </a:p>
        </p:txBody>
      </p:sp>
    </p:spTree>
    <p:extLst>
      <p:ext uri="{BB962C8B-B14F-4D97-AF65-F5344CB8AC3E}">
        <p14:creationId xmlns:p14="http://schemas.microsoft.com/office/powerpoint/2010/main" val="2766106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8" Type="http://schemas.openxmlformats.org/officeDocument/2006/relationships/hyperlink" Target="https://stuffbyyuki.com/wp-content/uploads/2023/06/polars-vs-pandas-arrow-vs-pandas-1.png" TargetMode="External"/><Relationship Id="rId3" Type="http://schemas.openxmlformats.org/officeDocument/2006/relationships/oleObject" Target="../embeddings/oleObject11.bin"/><Relationship Id="rId7" Type="http://schemas.openxmlformats.org/officeDocument/2006/relationships/hyperlink" Target="https://cliffy-gardens.medium.com/using-python-polars-my-late-2024-review-da806618a102" TargetMode="Externa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hyperlink" Target="https://realpython.com/polars-python/" TargetMode="External"/><Relationship Id="rId5" Type="http://schemas.openxmlformats.org/officeDocument/2006/relationships/hyperlink" Target="https://docs.pola.rs/#key-features" TargetMode="External"/><Relationship Id="rId4" Type="http://schemas.openxmlformats.org/officeDocument/2006/relationships/image" Target="../media/image1.emf"/><Relationship Id="rId9" Type="http://schemas.openxmlformats.org/officeDocument/2006/relationships/hyperlink" Target="https://en.wikipedia.org/wiki/Polar_coordinate_system#:~:text=The%20distance%20from%20the%20pole,to%20model%20using%20polar%20coordinates" TargetMode="Externa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9D6A202-978D-D004-3CAB-ABFEC41BB40F}"/>
              </a:ext>
            </a:extLst>
          </p:cNvPr>
          <p:cNvGraphicFramePr>
            <a:graphicFrameLocks noChangeAspect="1"/>
          </p:cNvGraphicFramePr>
          <p:nvPr>
            <p:custDataLst>
              <p:tags r:id="rId1"/>
            </p:custDataLst>
            <p:extLst>
              <p:ext uri="{D42A27DB-BD31-4B8C-83A1-F6EECF244321}">
                <p14:modId xmlns:p14="http://schemas.microsoft.com/office/powerpoint/2010/main" val="15073075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83A1674-0F7E-CDDD-27E7-43EF106D93C1}"/>
              </a:ext>
            </a:extLst>
          </p:cNvPr>
          <p:cNvSpPr>
            <a:spLocks noGrp="1"/>
          </p:cNvSpPr>
          <p:nvPr>
            <p:ph type="ctrTitle"/>
          </p:nvPr>
        </p:nvSpPr>
        <p:spPr/>
        <p:txBody>
          <a:bodyPr vert="horz"/>
          <a:lstStyle/>
          <a:p>
            <a:r>
              <a:rPr lang="en-US" dirty="0"/>
              <a:t>Polars</a:t>
            </a:r>
            <a:br>
              <a:rPr lang="en-US" dirty="0"/>
            </a:br>
            <a:r>
              <a:rPr lang="en-US" dirty="0"/>
              <a:t>Python Library Overview</a:t>
            </a:r>
          </a:p>
        </p:txBody>
      </p:sp>
      <p:sp>
        <p:nvSpPr>
          <p:cNvPr id="3" name="Subtitle 2">
            <a:extLst>
              <a:ext uri="{FF2B5EF4-FFF2-40B4-BE49-F238E27FC236}">
                <a16:creationId xmlns:a16="http://schemas.microsoft.com/office/drawing/2014/main" id="{96B6D395-2A6B-ADE0-9C1D-E7E74AD62768}"/>
              </a:ext>
            </a:extLst>
          </p:cNvPr>
          <p:cNvSpPr>
            <a:spLocks noGrp="1"/>
          </p:cNvSpPr>
          <p:nvPr>
            <p:ph type="subTitle" idx="1"/>
          </p:nvPr>
        </p:nvSpPr>
        <p:spPr/>
        <p:txBody>
          <a:bodyPr/>
          <a:lstStyle/>
          <a:p>
            <a:r>
              <a:rPr lang="en-US" dirty="0"/>
              <a:t>By : Genti Dallvo</a:t>
            </a:r>
          </a:p>
        </p:txBody>
      </p:sp>
    </p:spTree>
    <p:extLst>
      <p:ext uri="{BB962C8B-B14F-4D97-AF65-F5344CB8AC3E}">
        <p14:creationId xmlns:p14="http://schemas.microsoft.com/office/powerpoint/2010/main" val="1340653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510E278-03A0-66C3-BED1-73F779890034}"/>
              </a:ext>
            </a:extLst>
          </p:cNvPr>
          <p:cNvGraphicFramePr>
            <a:graphicFrameLocks noChangeAspect="1"/>
          </p:cNvGraphicFramePr>
          <p:nvPr>
            <p:custDataLst>
              <p:tags r:id="rId1"/>
            </p:custDataLst>
            <p:extLst>
              <p:ext uri="{D42A27DB-BD31-4B8C-83A1-F6EECF244321}">
                <p14:modId xmlns:p14="http://schemas.microsoft.com/office/powerpoint/2010/main" val="867309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568033C-BA83-B980-DC9E-3A05944E8326}"/>
              </a:ext>
            </a:extLst>
          </p:cNvPr>
          <p:cNvSpPr>
            <a:spLocks noGrp="1"/>
          </p:cNvSpPr>
          <p:nvPr>
            <p:ph type="title"/>
          </p:nvPr>
        </p:nvSpPr>
        <p:spPr/>
        <p:txBody>
          <a:bodyPr vert="horz"/>
          <a:lstStyle/>
          <a:p>
            <a:r>
              <a:rPr lang="en-US" dirty="0"/>
              <a:t>What is Polars Library</a:t>
            </a:r>
          </a:p>
        </p:txBody>
      </p:sp>
      <p:sp>
        <p:nvSpPr>
          <p:cNvPr id="3" name="Content Placeholder 2">
            <a:extLst>
              <a:ext uri="{FF2B5EF4-FFF2-40B4-BE49-F238E27FC236}">
                <a16:creationId xmlns:a16="http://schemas.microsoft.com/office/drawing/2014/main" id="{2F5B41E5-79E1-B1AA-45E3-2A0296A709ED}"/>
              </a:ext>
            </a:extLst>
          </p:cNvPr>
          <p:cNvSpPr>
            <a:spLocks noGrp="1"/>
          </p:cNvSpPr>
          <p:nvPr>
            <p:ph idx="1"/>
          </p:nvPr>
        </p:nvSpPr>
        <p:spPr>
          <a:xfrm>
            <a:off x="838200" y="1825625"/>
            <a:ext cx="7848600" cy="4351338"/>
          </a:xfrm>
        </p:spPr>
        <p:txBody>
          <a:bodyPr>
            <a:noAutofit/>
          </a:bodyPr>
          <a:lstStyle/>
          <a:p>
            <a:r>
              <a:rPr lang="en-US" sz="1800" dirty="0"/>
              <a:t>The name "Polars" for the Python data frame library originates from its core design principle of </a:t>
            </a:r>
            <a:r>
              <a:rPr lang="en-US" sz="1800" b="1" dirty="0"/>
              <a:t>leveraging CPU parallelism</a:t>
            </a:r>
            <a:r>
              <a:rPr lang="en-US" sz="1800" dirty="0"/>
              <a:t>. Just as polar coordinates define a plane using angles and a radius extending outwards (radially) from a central point, Polars is designed to process data by radiating computations outwards across multiple CPU cores simultaneously. </a:t>
            </a:r>
          </a:p>
          <a:p>
            <a:r>
              <a:rPr lang="en-US" sz="1800" dirty="0"/>
              <a:t>The Polars library in Python is a high-performance data manipulation library designed primarily for </a:t>
            </a:r>
            <a:r>
              <a:rPr lang="en-US" sz="1800" b="1" dirty="0"/>
              <a:t>use in data science, data analysis, and machine learning contexts</a:t>
            </a:r>
            <a:r>
              <a:rPr lang="en-US" sz="1800" dirty="0"/>
              <a:t>. It provides functionalities similar to pandas but is optimized to handle large datasets more efficiently. </a:t>
            </a:r>
          </a:p>
          <a:p>
            <a:r>
              <a:rPr lang="en-US" sz="1800" b="1" dirty="0"/>
              <a:t>It is written in Rust </a:t>
            </a:r>
            <a:r>
              <a:rPr lang="en-US" sz="1800" dirty="0"/>
              <a:t>– a</a:t>
            </a:r>
            <a:r>
              <a:rPr lang="en-US" sz="1800" b="1" dirty="0"/>
              <a:t> </a:t>
            </a:r>
            <a:r>
              <a:rPr lang="en-US" sz="1800" dirty="0"/>
              <a:t>system programming language designed for safety, speed, and concurrency particularly when working with large datasets. Polars utilizes a multi-threaded query engine and columnar storage, enabling parallel processing and optimized memory usage. It supports </a:t>
            </a:r>
            <a:r>
              <a:rPr lang="en-US" sz="1800" b="1" dirty="0"/>
              <a:t>lazy evaluation</a:t>
            </a:r>
            <a:r>
              <a:rPr lang="en-US" sz="1800" dirty="0"/>
              <a:t>, optimizing queries for better performance and reduced memory consumption. </a:t>
            </a:r>
          </a:p>
          <a:p>
            <a:endParaRPr lang="en-US" sz="1800" dirty="0"/>
          </a:p>
        </p:txBody>
      </p:sp>
      <p:pic>
        <p:nvPicPr>
          <p:cNvPr id="6" name="Picture 5">
            <a:extLst>
              <a:ext uri="{FF2B5EF4-FFF2-40B4-BE49-F238E27FC236}">
                <a16:creationId xmlns:a16="http://schemas.microsoft.com/office/drawing/2014/main" id="{3B68CB5F-C0EA-C23F-BFDD-3E296AFC1E16}"/>
              </a:ext>
            </a:extLst>
          </p:cNvPr>
          <p:cNvPicPr>
            <a:picLocks noChangeAspect="1"/>
          </p:cNvPicPr>
          <p:nvPr/>
        </p:nvPicPr>
        <p:blipFill>
          <a:blip r:embed="rId5"/>
          <a:stretch>
            <a:fillRect/>
          </a:stretch>
        </p:blipFill>
        <p:spPr>
          <a:xfrm>
            <a:off x="8819418" y="2016003"/>
            <a:ext cx="3028950" cy="3571875"/>
          </a:xfrm>
          <a:prstGeom prst="rect">
            <a:avLst/>
          </a:prstGeom>
          <a:ln>
            <a:solidFill>
              <a:schemeClr val="accent1"/>
            </a:solidFill>
          </a:ln>
        </p:spPr>
      </p:pic>
    </p:spTree>
    <p:extLst>
      <p:ext uri="{BB962C8B-B14F-4D97-AF65-F5344CB8AC3E}">
        <p14:creationId xmlns:p14="http://schemas.microsoft.com/office/powerpoint/2010/main" val="205952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D07C11E-FB7F-3319-8613-7C730EFF7943}"/>
              </a:ext>
            </a:extLst>
          </p:cNvPr>
          <p:cNvGraphicFramePr>
            <a:graphicFrameLocks noChangeAspect="1"/>
          </p:cNvGraphicFramePr>
          <p:nvPr>
            <p:custDataLst>
              <p:tags r:id="rId1"/>
            </p:custDataLst>
            <p:extLst>
              <p:ext uri="{D42A27DB-BD31-4B8C-83A1-F6EECF244321}">
                <p14:modId xmlns:p14="http://schemas.microsoft.com/office/powerpoint/2010/main" val="23384730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DFD3180-EA80-ABCE-C539-692186611337}"/>
              </a:ext>
            </a:extLst>
          </p:cNvPr>
          <p:cNvSpPr>
            <a:spLocks noGrp="1"/>
          </p:cNvSpPr>
          <p:nvPr>
            <p:ph type="title"/>
          </p:nvPr>
        </p:nvSpPr>
        <p:spPr/>
        <p:txBody>
          <a:bodyPr vert="horz"/>
          <a:lstStyle/>
          <a:p>
            <a:r>
              <a:rPr lang="en-US" dirty="0"/>
              <a:t>Key Characteristics of Polars</a:t>
            </a:r>
          </a:p>
        </p:txBody>
      </p:sp>
      <p:sp>
        <p:nvSpPr>
          <p:cNvPr id="3" name="Content Placeholder 2">
            <a:extLst>
              <a:ext uri="{FF2B5EF4-FFF2-40B4-BE49-F238E27FC236}">
                <a16:creationId xmlns:a16="http://schemas.microsoft.com/office/drawing/2014/main" id="{89A2A7CA-EFA7-CD0C-5A80-51D0BAF782F0}"/>
              </a:ext>
            </a:extLst>
          </p:cNvPr>
          <p:cNvSpPr>
            <a:spLocks noGrp="1"/>
          </p:cNvSpPr>
          <p:nvPr>
            <p:ph idx="1"/>
          </p:nvPr>
        </p:nvSpPr>
        <p:spPr/>
        <p:txBody>
          <a:bodyPr>
            <a:normAutofit/>
          </a:bodyPr>
          <a:lstStyle/>
          <a:p>
            <a:r>
              <a:rPr lang="en-US" sz="1800" b="1" dirty="0"/>
              <a:t>Fast: </a:t>
            </a:r>
            <a:r>
              <a:rPr lang="en-US" sz="1800" dirty="0"/>
              <a:t>Written from scratch in Rust, designed close to the machine and without external dependencies.</a:t>
            </a:r>
          </a:p>
          <a:p>
            <a:r>
              <a:rPr lang="en-US" sz="1800" b="1" dirty="0"/>
              <a:t>I/O: </a:t>
            </a:r>
            <a:r>
              <a:rPr lang="en-US" sz="1800" dirty="0"/>
              <a:t>First class support for all common data storage layers: local, cloud storage &amp; databases.</a:t>
            </a:r>
          </a:p>
          <a:p>
            <a:r>
              <a:rPr lang="en-US" sz="1800" b="1" dirty="0"/>
              <a:t>Intuitive API: </a:t>
            </a:r>
            <a:r>
              <a:rPr lang="en-US" sz="1800" dirty="0"/>
              <a:t>Write your queries the way they were intended. Polars, internally, will determine the most efficient way to execute using its query optimizer.</a:t>
            </a:r>
          </a:p>
          <a:p>
            <a:r>
              <a:rPr lang="en-US" sz="1800" b="1" dirty="0"/>
              <a:t>Out of Core: </a:t>
            </a:r>
            <a:r>
              <a:rPr lang="en-US" sz="1800" dirty="0"/>
              <a:t>The streaming API allows you to process your results without requiring all your data to be in memory at the same time.</a:t>
            </a:r>
          </a:p>
          <a:p>
            <a:r>
              <a:rPr lang="en-US" sz="1800" b="1" dirty="0"/>
              <a:t>Parallel: </a:t>
            </a:r>
            <a:r>
              <a:rPr lang="en-US" sz="1800" dirty="0"/>
              <a:t>Utilizes the power of your machine by dividing the workload among the available CPU cores without any additional configuration.</a:t>
            </a:r>
          </a:p>
          <a:p>
            <a:r>
              <a:rPr lang="en-US" sz="1800" b="1" dirty="0"/>
              <a:t>GPU Support: </a:t>
            </a:r>
            <a:r>
              <a:rPr lang="en-US" sz="1800" dirty="0"/>
              <a:t>Optionally run queries on NVIDIA GPUs for maximum performance for in-memory workloads.</a:t>
            </a:r>
          </a:p>
        </p:txBody>
      </p:sp>
    </p:spTree>
    <p:extLst>
      <p:ext uri="{BB962C8B-B14F-4D97-AF65-F5344CB8AC3E}">
        <p14:creationId xmlns:p14="http://schemas.microsoft.com/office/powerpoint/2010/main" val="818824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D3076D6-9C6B-5417-96FE-96E4196D1699}"/>
              </a:ext>
            </a:extLst>
          </p:cNvPr>
          <p:cNvGraphicFramePr>
            <a:graphicFrameLocks noChangeAspect="1"/>
          </p:cNvGraphicFramePr>
          <p:nvPr>
            <p:custDataLst>
              <p:tags r:id="rId1"/>
            </p:custDataLst>
            <p:extLst>
              <p:ext uri="{D42A27DB-BD31-4B8C-83A1-F6EECF244321}">
                <p14:modId xmlns:p14="http://schemas.microsoft.com/office/powerpoint/2010/main" val="10066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B8085DC-23DD-40D8-53B5-BEAE08C8F9D3}"/>
              </a:ext>
            </a:extLst>
          </p:cNvPr>
          <p:cNvSpPr>
            <a:spLocks noGrp="1"/>
          </p:cNvSpPr>
          <p:nvPr>
            <p:ph type="title"/>
          </p:nvPr>
        </p:nvSpPr>
        <p:spPr/>
        <p:txBody>
          <a:bodyPr vert="horz"/>
          <a:lstStyle/>
          <a:p>
            <a:r>
              <a:rPr lang="en-US" dirty="0"/>
              <a:t>Performance Comparison Results</a:t>
            </a:r>
          </a:p>
        </p:txBody>
      </p:sp>
      <p:pic>
        <p:nvPicPr>
          <p:cNvPr id="5" name="Content Placeholder 4">
            <a:extLst>
              <a:ext uri="{FF2B5EF4-FFF2-40B4-BE49-F238E27FC236}">
                <a16:creationId xmlns:a16="http://schemas.microsoft.com/office/drawing/2014/main" id="{D2411D38-0965-0001-1013-86F449CA1306}"/>
              </a:ext>
            </a:extLst>
          </p:cNvPr>
          <p:cNvPicPr>
            <a:picLocks noGrp="1" noChangeAspect="1"/>
          </p:cNvPicPr>
          <p:nvPr>
            <p:ph idx="1"/>
          </p:nvPr>
        </p:nvPicPr>
        <p:blipFill>
          <a:blip r:embed="rId5"/>
          <a:stretch>
            <a:fillRect/>
          </a:stretch>
        </p:blipFill>
        <p:spPr>
          <a:xfrm>
            <a:off x="633647" y="1690688"/>
            <a:ext cx="10022630" cy="4813280"/>
          </a:xfrm>
        </p:spPr>
      </p:pic>
      <p:sp>
        <p:nvSpPr>
          <p:cNvPr id="15" name="TextBox 14">
            <a:extLst>
              <a:ext uri="{FF2B5EF4-FFF2-40B4-BE49-F238E27FC236}">
                <a16:creationId xmlns:a16="http://schemas.microsoft.com/office/drawing/2014/main" id="{3DE061E6-2560-44F1-B9F2-E689A00EE85B}"/>
              </a:ext>
            </a:extLst>
          </p:cNvPr>
          <p:cNvSpPr txBox="1"/>
          <p:nvPr/>
        </p:nvSpPr>
        <p:spPr>
          <a:xfrm>
            <a:off x="6662372" y="6503968"/>
            <a:ext cx="6097464" cy="230832"/>
          </a:xfrm>
          <a:prstGeom prst="rect">
            <a:avLst/>
          </a:prstGeom>
          <a:noFill/>
        </p:spPr>
        <p:txBody>
          <a:bodyPr wrap="square">
            <a:spAutoFit/>
          </a:bodyPr>
          <a:lstStyle/>
          <a:p>
            <a:r>
              <a:rPr lang="en-US" sz="900" dirty="0"/>
              <a:t>Source: https://stuffbyyuki.com/wp-content/uploads/2023/06/polars-vs-pandas-arrow-vs-pandas-1.png</a:t>
            </a:r>
          </a:p>
        </p:txBody>
      </p:sp>
    </p:spTree>
    <p:extLst>
      <p:ext uri="{BB962C8B-B14F-4D97-AF65-F5344CB8AC3E}">
        <p14:creationId xmlns:p14="http://schemas.microsoft.com/office/powerpoint/2010/main" val="2195342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DF4EBE5-8649-3D08-90C0-221763565EEB}"/>
              </a:ext>
            </a:extLst>
          </p:cNvPr>
          <p:cNvGraphicFramePr>
            <a:graphicFrameLocks noChangeAspect="1"/>
          </p:cNvGraphicFramePr>
          <p:nvPr>
            <p:custDataLst>
              <p:tags r:id="rId1"/>
            </p:custDataLst>
            <p:extLst>
              <p:ext uri="{D42A27DB-BD31-4B8C-83A1-F6EECF244321}">
                <p14:modId xmlns:p14="http://schemas.microsoft.com/office/powerpoint/2010/main" val="16265890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16C87CD-38A3-35AF-41A3-949B2212E82E}"/>
              </a:ext>
            </a:extLst>
          </p:cNvPr>
          <p:cNvSpPr>
            <a:spLocks noGrp="1"/>
          </p:cNvSpPr>
          <p:nvPr>
            <p:ph type="title"/>
          </p:nvPr>
        </p:nvSpPr>
        <p:spPr/>
        <p:txBody>
          <a:bodyPr vert="horz"/>
          <a:lstStyle/>
          <a:p>
            <a:r>
              <a:rPr lang="en-US" dirty="0"/>
              <a:t>Polars Use Cases</a:t>
            </a:r>
          </a:p>
        </p:txBody>
      </p:sp>
      <p:sp>
        <p:nvSpPr>
          <p:cNvPr id="3" name="Content Placeholder 2">
            <a:extLst>
              <a:ext uri="{FF2B5EF4-FFF2-40B4-BE49-F238E27FC236}">
                <a16:creationId xmlns:a16="http://schemas.microsoft.com/office/drawing/2014/main" id="{139E23C6-8404-39B7-0CE3-D97B4E2C524B}"/>
              </a:ext>
            </a:extLst>
          </p:cNvPr>
          <p:cNvSpPr>
            <a:spLocks noGrp="1"/>
          </p:cNvSpPr>
          <p:nvPr>
            <p:ph idx="1"/>
          </p:nvPr>
        </p:nvSpPr>
        <p:spPr>
          <a:xfrm>
            <a:off x="838200" y="1825625"/>
            <a:ext cx="11040208" cy="4351338"/>
          </a:xfrm>
        </p:spPr>
        <p:txBody>
          <a:bodyPr>
            <a:noAutofit/>
          </a:bodyPr>
          <a:lstStyle/>
          <a:p>
            <a:r>
              <a:rPr lang="en-US" sz="1800" b="1" dirty="0"/>
              <a:t>Financial Data Analysis </a:t>
            </a:r>
            <a:r>
              <a:rPr lang="en-US" sz="1400" dirty="0"/>
              <a:t>- Polars can be used to analyze large financial datasets, such as stock prices or transaction data, to identify trends, calculate moving averages, and perform other calculations.</a:t>
            </a:r>
          </a:p>
          <a:p>
            <a:r>
              <a:rPr lang="en-US" sz="1800" b="1" dirty="0"/>
              <a:t>Log File Analysis </a:t>
            </a:r>
            <a:r>
              <a:rPr lang="en-US" sz="1400" dirty="0"/>
              <a:t>- Polars can efficiently process and analyze large log files to extract relevant information, identify errors, and monitor system performance.</a:t>
            </a:r>
          </a:p>
          <a:p>
            <a:r>
              <a:rPr lang="en-US" sz="1800" b="1" dirty="0"/>
              <a:t>ETL Processes </a:t>
            </a:r>
            <a:r>
              <a:rPr lang="en-US" sz="1400" dirty="0"/>
              <a:t>- Polars can be used to extract, transform, and load data from various sources, making it suitable for building data pipelines</a:t>
            </a:r>
          </a:p>
          <a:p>
            <a:r>
              <a:rPr lang="en-US" sz="1800" b="1" dirty="0"/>
              <a:t>Data Cleaning and Preprocessing</a:t>
            </a:r>
            <a:r>
              <a:rPr lang="en-US" sz="1400" b="1" dirty="0"/>
              <a:t> -</a:t>
            </a:r>
            <a:r>
              <a:rPr lang="en-US" sz="1400" dirty="0"/>
              <a:t> Polars provides tools for cleaning and preprocessing data, such as handling missing values, filtering rows, and transforming columns.</a:t>
            </a:r>
          </a:p>
          <a:p>
            <a:r>
              <a:rPr lang="en-US" sz="1800" b="1" dirty="0"/>
              <a:t>Large Dataset Handling </a:t>
            </a:r>
            <a:r>
              <a:rPr lang="en-US" sz="1400" dirty="0"/>
              <a:t>- Polars can handle datasets larger than available RAM due to its ability to work with data in chunks and its optimized query execution.</a:t>
            </a:r>
          </a:p>
          <a:p>
            <a:r>
              <a:rPr lang="en-US" sz="1800" b="1" dirty="0"/>
              <a:t>Geospatial Analysis</a:t>
            </a:r>
            <a:r>
              <a:rPr lang="en-US" sz="1400" b="1" dirty="0"/>
              <a:t> </a:t>
            </a:r>
            <a:r>
              <a:rPr lang="en-US" sz="1400" dirty="0"/>
              <a:t>- Polars, along with plugins like polars-</a:t>
            </a:r>
            <a:r>
              <a:rPr lang="en-US" sz="1400" dirty="0" err="1"/>
              <a:t>st</a:t>
            </a:r>
            <a:r>
              <a:rPr lang="en-US" sz="1400" dirty="0"/>
              <a:t>, can be used for geospatial operations on </a:t>
            </a:r>
            <a:r>
              <a:rPr lang="en-US" sz="1400" dirty="0" err="1"/>
              <a:t>dataframes</a:t>
            </a:r>
            <a:r>
              <a:rPr lang="en-US" sz="1400" dirty="0"/>
              <a:t>, such as calculating distances or performing spatial joins.</a:t>
            </a:r>
          </a:p>
          <a:p>
            <a:r>
              <a:rPr lang="en-US" sz="1800" b="1" dirty="0"/>
              <a:t>String Parsing and Manipulation </a:t>
            </a:r>
            <a:r>
              <a:rPr lang="en-US" sz="1400" dirty="0"/>
              <a:t>- Plugins like polars-</a:t>
            </a:r>
            <a:r>
              <a:rPr lang="en-US" sz="1400" dirty="0" err="1"/>
              <a:t>url</a:t>
            </a:r>
            <a:r>
              <a:rPr lang="en-US" sz="1400" dirty="0"/>
              <a:t> and </a:t>
            </a:r>
            <a:r>
              <a:rPr lang="en-US" sz="1400" dirty="0" err="1"/>
              <a:t>polars_iptools</a:t>
            </a:r>
            <a:r>
              <a:rPr lang="en-US" sz="1400" dirty="0"/>
              <a:t>, can parse and extract information from URLs and IP addresses.</a:t>
            </a:r>
          </a:p>
          <a:p>
            <a:r>
              <a:rPr lang="en-US" sz="1800" b="1" dirty="0"/>
              <a:t>Fuzzy Matching and Text Similarity </a:t>
            </a:r>
            <a:r>
              <a:rPr lang="en-US" sz="1400" b="1" dirty="0"/>
              <a:t>- </a:t>
            </a:r>
            <a:r>
              <a:rPr lang="en-US" sz="1400" dirty="0"/>
              <a:t>Plugins like polars-distance and polars-fuzzy-match, can be used for fuzzy matching and calculating text similarity between strings.</a:t>
            </a:r>
          </a:p>
        </p:txBody>
      </p:sp>
    </p:spTree>
    <p:extLst>
      <p:ext uri="{BB962C8B-B14F-4D97-AF65-F5344CB8AC3E}">
        <p14:creationId xmlns:p14="http://schemas.microsoft.com/office/powerpoint/2010/main" val="1699200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1327D08-402B-EB1F-61B3-B9540D3E78A6}"/>
              </a:ext>
            </a:extLst>
          </p:cNvPr>
          <p:cNvGraphicFramePr>
            <a:graphicFrameLocks noChangeAspect="1"/>
          </p:cNvGraphicFramePr>
          <p:nvPr>
            <p:custDataLst>
              <p:tags r:id="rId1"/>
            </p:custDataLst>
            <p:extLst>
              <p:ext uri="{D42A27DB-BD31-4B8C-83A1-F6EECF244321}">
                <p14:modId xmlns:p14="http://schemas.microsoft.com/office/powerpoint/2010/main" val="316477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7FE4CCE-C0FF-BC98-CA72-F1719268515F}"/>
              </a:ext>
            </a:extLst>
          </p:cNvPr>
          <p:cNvSpPr>
            <a:spLocks noGrp="1"/>
          </p:cNvSpPr>
          <p:nvPr>
            <p:ph type="title"/>
          </p:nvPr>
        </p:nvSpPr>
        <p:spPr/>
        <p:txBody>
          <a:bodyPr vert="horz"/>
          <a:lstStyle/>
          <a:p>
            <a:r>
              <a:rPr lang="en-US" dirty="0"/>
              <a:t>How is Polars Different than Pandas</a:t>
            </a:r>
          </a:p>
        </p:txBody>
      </p:sp>
      <p:sp>
        <p:nvSpPr>
          <p:cNvPr id="3" name="Content Placeholder 2">
            <a:extLst>
              <a:ext uri="{FF2B5EF4-FFF2-40B4-BE49-F238E27FC236}">
                <a16:creationId xmlns:a16="http://schemas.microsoft.com/office/drawing/2014/main" id="{9012B598-3E6C-10A6-4EE4-1CBD1DA3C5A0}"/>
              </a:ext>
            </a:extLst>
          </p:cNvPr>
          <p:cNvSpPr>
            <a:spLocks noGrp="1"/>
          </p:cNvSpPr>
          <p:nvPr>
            <p:ph idx="1"/>
          </p:nvPr>
        </p:nvSpPr>
        <p:spPr/>
        <p:txBody>
          <a:bodyPr>
            <a:noAutofit/>
          </a:bodyPr>
          <a:lstStyle/>
          <a:p>
            <a:r>
              <a:rPr lang="en-US" sz="1600" dirty="0"/>
              <a:t>Pandas and Polars are both popular data manipulation libraries in Python, but they are designed with different focuses and underlying architectures. Here’s a comparison of some key differences between pandas and Polars:</a:t>
            </a:r>
          </a:p>
          <a:p>
            <a:pPr>
              <a:buFont typeface="+mj-lt"/>
              <a:buAutoNum type="arabicPeriod"/>
            </a:pPr>
            <a:r>
              <a:rPr lang="en-US" sz="1600" b="1" dirty="0"/>
              <a:t>Performance and Scalability</a:t>
            </a:r>
            <a:r>
              <a:rPr lang="en-US" sz="1600" dirty="0"/>
              <a:t>:</a:t>
            </a:r>
          </a:p>
          <a:p>
            <a:pPr marL="742950" lvl="1" indent="-285750">
              <a:buFont typeface="+mj-lt"/>
              <a:buAutoNum type="arabicPeriod"/>
            </a:pPr>
            <a:r>
              <a:rPr lang="en-US" sz="1600" b="1" dirty="0"/>
              <a:t>Pandas</a:t>
            </a:r>
            <a:r>
              <a:rPr lang="en-US" sz="1600" dirty="0"/>
              <a:t>: It's widely used for its ease of use and flexibility but can </a:t>
            </a:r>
            <a:r>
              <a:rPr lang="en-US" sz="1600" dirty="0">
                <a:solidFill>
                  <a:schemeClr val="accent2">
                    <a:lumMod val="75000"/>
                  </a:schemeClr>
                </a:solidFill>
              </a:rPr>
              <a:t>struggle with performance issues</a:t>
            </a:r>
            <a:r>
              <a:rPr lang="en-US" sz="1600" dirty="0"/>
              <a:t>, especially with very large datasets. Its performance typically degrades as the size of the data grows beyond the memory capacity of a single machine.</a:t>
            </a:r>
          </a:p>
          <a:p>
            <a:pPr marL="742950" lvl="1" indent="-285750">
              <a:buFont typeface="+mj-lt"/>
              <a:buAutoNum type="arabicPeriod"/>
            </a:pPr>
            <a:r>
              <a:rPr lang="en-US" sz="1600" b="1" dirty="0"/>
              <a:t>Polars</a:t>
            </a:r>
            <a:r>
              <a:rPr lang="en-US" sz="1600" dirty="0"/>
              <a:t>: Designed to </a:t>
            </a:r>
            <a:r>
              <a:rPr lang="en-US" sz="1600" dirty="0">
                <a:solidFill>
                  <a:schemeClr val="accent6"/>
                </a:solidFill>
              </a:rPr>
              <a:t>handle large datasets more efficiently</a:t>
            </a:r>
            <a:r>
              <a:rPr lang="en-US" sz="1600" dirty="0"/>
              <a:t>, it uses a </a:t>
            </a:r>
            <a:r>
              <a:rPr lang="en-US" sz="1600" dirty="0">
                <a:solidFill>
                  <a:schemeClr val="accent6"/>
                </a:solidFill>
              </a:rPr>
              <a:t>multi-threaded approach</a:t>
            </a:r>
            <a:r>
              <a:rPr lang="en-US" sz="1600" dirty="0"/>
              <a:t> which gives it speed and memory efficiency advantages over pandas. Polars is often faster for large datasets and complex data manipulations.</a:t>
            </a:r>
          </a:p>
          <a:p>
            <a:pPr>
              <a:buFont typeface="+mj-lt"/>
              <a:buAutoNum type="arabicPeriod"/>
            </a:pPr>
            <a:r>
              <a:rPr lang="en-US" sz="1600" b="1" dirty="0"/>
              <a:t>API and Ease of Use</a:t>
            </a:r>
            <a:r>
              <a:rPr lang="en-US" sz="1600" dirty="0"/>
              <a:t>:</a:t>
            </a:r>
          </a:p>
          <a:p>
            <a:pPr marL="742950" lvl="1" indent="-285750">
              <a:buFont typeface="+mj-lt"/>
              <a:buAutoNum type="arabicPeriod"/>
            </a:pPr>
            <a:r>
              <a:rPr lang="en-US" sz="1600" b="1" dirty="0"/>
              <a:t>Pandas</a:t>
            </a:r>
            <a:r>
              <a:rPr lang="en-US" sz="1600" dirty="0"/>
              <a:t>: Has a well-established, intuitive API that is deeply integrated into the Python data science ecosystem. It offers a broad range of functionalities and is often the </a:t>
            </a:r>
            <a:r>
              <a:rPr lang="en-US" sz="1600" dirty="0">
                <a:solidFill>
                  <a:schemeClr val="accent6"/>
                </a:solidFill>
              </a:rPr>
              <a:t>first choice for data manipulation </a:t>
            </a:r>
            <a:r>
              <a:rPr lang="en-US" sz="1600" dirty="0"/>
              <a:t>tasks in Python.</a:t>
            </a:r>
          </a:p>
          <a:p>
            <a:pPr marL="742950" lvl="1" indent="-285750">
              <a:buFont typeface="+mj-lt"/>
              <a:buAutoNum type="arabicPeriod"/>
            </a:pPr>
            <a:r>
              <a:rPr lang="en-US" sz="1600" b="1" dirty="0"/>
              <a:t>Polars</a:t>
            </a:r>
            <a:r>
              <a:rPr lang="en-US" sz="1600" dirty="0"/>
              <a:t>: While it provides an API similar to pandas to ease transition, it also introduces a unique expression </a:t>
            </a:r>
            <a:r>
              <a:rPr lang="en-US" sz="1600" dirty="0">
                <a:solidFill>
                  <a:schemeClr val="accent6"/>
                </a:solidFill>
              </a:rPr>
              <a:t>system for lazy computations</a:t>
            </a:r>
            <a:r>
              <a:rPr lang="en-US" sz="1600" dirty="0"/>
              <a:t>, which can be more verbose but allows for more optimized workflows.</a:t>
            </a:r>
          </a:p>
        </p:txBody>
      </p:sp>
    </p:spTree>
    <p:extLst>
      <p:ext uri="{BB962C8B-B14F-4D97-AF65-F5344CB8AC3E}">
        <p14:creationId xmlns:p14="http://schemas.microsoft.com/office/powerpoint/2010/main" val="780605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0212E6F-CC75-3877-0F3F-B1E1A43B47DF}"/>
              </a:ext>
            </a:extLst>
          </p:cNvPr>
          <p:cNvGraphicFramePr>
            <a:graphicFrameLocks noChangeAspect="1"/>
          </p:cNvGraphicFramePr>
          <p:nvPr>
            <p:custDataLst>
              <p:tags r:id="rId1"/>
            </p:custDataLst>
            <p:extLst>
              <p:ext uri="{D42A27DB-BD31-4B8C-83A1-F6EECF244321}">
                <p14:modId xmlns:p14="http://schemas.microsoft.com/office/powerpoint/2010/main" val="3010613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CE867F3-30E0-37E7-488E-6BE9A6E91C25}"/>
              </a:ext>
            </a:extLst>
          </p:cNvPr>
          <p:cNvSpPr>
            <a:spLocks noGrp="1"/>
          </p:cNvSpPr>
          <p:nvPr>
            <p:ph type="title"/>
          </p:nvPr>
        </p:nvSpPr>
        <p:spPr/>
        <p:txBody>
          <a:bodyPr vert="horz"/>
          <a:lstStyle/>
          <a:p>
            <a:r>
              <a:rPr lang="en-US" dirty="0"/>
              <a:t>How is Polars Different than Pandas</a:t>
            </a:r>
          </a:p>
        </p:txBody>
      </p:sp>
      <p:sp>
        <p:nvSpPr>
          <p:cNvPr id="3" name="Content Placeholder 2">
            <a:extLst>
              <a:ext uri="{FF2B5EF4-FFF2-40B4-BE49-F238E27FC236}">
                <a16:creationId xmlns:a16="http://schemas.microsoft.com/office/drawing/2014/main" id="{42C74013-65C0-05E9-D9DC-44FA6E5CA71D}"/>
              </a:ext>
            </a:extLst>
          </p:cNvPr>
          <p:cNvSpPr>
            <a:spLocks noGrp="1"/>
          </p:cNvSpPr>
          <p:nvPr>
            <p:ph idx="1"/>
          </p:nvPr>
        </p:nvSpPr>
        <p:spPr>
          <a:xfrm>
            <a:off x="838200" y="1529862"/>
            <a:ext cx="10515600" cy="4647101"/>
          </a:xfrm>
        </p:spPr>
        <p:txBody>
          <a:bodyPr/>
          <a:lstStyle/>
          <a:p>
            <a:pPr>
              <a:buFont typeface="+mj-lt"/>
              <a:buAutoNum type="arabicPeriod"/>
            </a:pPr>
            <a:r>
              <a:rPr lang="en-US" sz="1600" b="1" dirty="0"/>
              <a:t>Data Handling and Storage</a:t>
            </a:r>
            <a:r>
              <a:rPr lang="en-US" sz="1600" dirty="0"/>
              <a:t>:</a:t>
            </a:r>
          </a:p>
          <a:p>
            <a:pPr marL="742950" lvl="1" indent="-285750">
              <a:buFont typeface="+mj-lt"/>
              <a:buAutoNum type="arabicPeriod"/>
            </a:pPr>
            <a:r>
              <a:rPr lang="en-US" sz="1600" b="1" dirty="0"/>
              <a:t>Pandas</a:t>
            </a:r>
            <a:r>
              <a:rPr lang="en-US" sz="1600" dirty="0"/>
              <a:t>: Uses an </a:t>
            </a:r>
            <a:r>
              <a:rPr lang="en-US" sz="1600" dirty="0">
                <a:solidFill>
                  <a:schemeClr val="accent2">
                    <a:lumMod val="75000"/>
                  </a:schemeClr>
                </a:solidFill>
              </a:rPr>
              <a:t>in-memory row-based </a:t>
            </a:r>
            <a:r>
              <a:rPr lang="en-US" sz="1600" dirty="0" err="1">
                <a:solidFill>
                  <a:schemeClr val="accent2">
                    <a:lumMod val="75000"/>
                  </a:schemeClr>
                </a:solidFill>
              </a:rPr>
              <a:t>DataFrame</a:t>
            </a:r>
            <a:r>
              <a:rPr lang="en-US" sz="1600" dirty="0">
                <a:solidFill>
                  <a:schemeClr val="accent2">
                    <a:lumMod val="75000"/>
                  </a:schemeClr>
                </a:solidFill>
              </a:rPr>
              <a:t> which can lead to inefficiencies </a:t>
            </a:r>
            <a:r>
              <a:rPr lang="en-US" sz="1600" dirty="0"/>
              <a:t>when dealing with large datasets or when performing operations that are naturally columnar.</a:t>
            </a:r>
          </a:p>
          <a:p>
            <a:pPr marL="742950" lvl="1" indent="-285750">
              <a:buFont typeface="+mj-lt"/>
              <a:buAutoNum type="arabicPeriod"/>
            </a:pPr>
            <a:r>
              <a:rPr lang="en-US" sz="1600" b="1" dirty="0"/>
              <a:t>Polars</a:t>
            </a:r>
            <a:r>
              <a:rPr lang="en-US" sz="1600" dirty="0"/>
              <a:t>: Utilizes a </a:t>
            </a:r>
            <a:r>
              <a:rPr lang="en-US" sz="1600" dirty="0">
                <a:solidFill>
                  <a:schemeClr val="accent6"/>
                </a:solidFill>
              </a:rPr>
              <a:t>columnar storage format</a:t>
            </a:r>
            <a:r>
              <a:rPr lang="en-US" sz="1600" dirty="0"/>
              <a:t>, which is more efficient for many types of operations and is better for optimizing memory usage during computations.</a:t>
            </a:r>
          </a:p>
          <a:p>
            <a:pPr>
              <a:buFont typeface="+mj-lt"/>
              <a:buAutoNum type="arabicPeriod"/>
            </a:pPr>
            <a:r>
              <a:rPr lang="en-US" sz="1600" b="1" dirty="0"/>
              <a:t>Concurrency and Parallelism</a:t>
            </a:r>
            <a:r>
              <a:rPr lang="en-US" sz="1600" dirty="0"/>
              <a:t>:</a:t>
            </a:r>
          </a:p>
          <a:p>
            <a:pPr marL="742950" lvl="1" indent="-285750">
              <a:buFont typeface="+mj-lt"/>
              <a:buAutoNum type="arabicPeriod"/>
            </a:pPr>
            <a:r>
              <a:rPr lang="en-US" sz="1600" b="1" dirty="0"/>
              <a:t>Pandas</a:t>
            </a:r>
            <a:r>
              <a:rPr lang="en-US" sz="1600" dirty="0"/>
              <a:t>: Operates in a </a:t>
            </a:r>
            <a:r>
              <a:rPr lang="en-US" sz="1600" dirty="0">
                <a:solidFill>
                  <a:schemeClr val="accent2">
                    <a:lumMod val="75000"/>
                  </a:schemeClr>
                </a:solidFill>
              </a:rPr>
              <a:t>single-threaded</a:t>
            </a:r>
            <a:r>
              <a:rPr lang="en-US" sz="1600" dirty="0"/>
              <a:t> manner, which means it does not naturally take advantage of multi-core CPUs without external tools like </a:t>
            </a:r>
            <a:r>
              <a:rPr lang="en-US" sz="1600" dirty="0" err="1"/>
              <a:t>Dask</a:t>
            </a:r>
            <a:r>
              <a:rPr lang="en-US" sz="1600" dirty="0"/>
              <a:t>.</a:t>
            </a:r>
          </a:p>
          <a:p>
            <a:pPr marL="742950" lvl="1" indent="-285750">
              <a:buFont typeface="+mj-lt"/>
              <a:buAutoNum type="arabicPeriod"/>
            </a:pPr>
            <a:r>
              <a:rPr lang="en-US" sz="1600" b="1" dirty="0"/>
              <a:t>Polars</a:t>
            </a:r>
            <a:r>
              <a:rPr lang="en-US" sz="1600" dirty="0"/>
              <a:t>: Built from the ground up to support </a:t>
            </a:r>
            <a:r>
              <a:rPr lang="en-US" sz="1600" dirty="0">
                <a:solidFill>
                  <a:schemeClr val="accent6"/>
                </a:solidFill>
              </a:rPr>
              <a:t>multi-threading, </a:t>
            </a:r>
            <a:r>
              <a:rPr lang="en-US" sz="1600" dirty="0"/>
              <a:t>allowing it to perform operations in parallel and thus significantly speeding up data processing tasks on multi-core machines.</a:t>
            </a:r>
          </a:p>
          <a:p>
            <a:pPr>
              <a:buFont typeface="+mj-lt"/>
              <a:buAutoNum type="arabicPeriod"/>
            </a:pPr>
            <a:r>
              <a:rPr lang="en-US" sz="1600" b="1" dirty="0"/>
              <a:t>Lazy Evaluation</a:t>
            </a:r>
            <a:r>
              <a:rPr lang="en-US" sz="1600" dirty="0"/>
              <a:t>:</a:t>
            </a:r>
          </a:p>
          <a:p>
            <a:pPr marL="742950" lvl="1" indent="-285750">
              <a:buFont typeface="+mj-lt"/>
              <a:buAutoNum type="arabicPeriod"/>
            </a:pPr>
            <a:r>
              <a:rPr lang="en-US" sz="1600" b="1" dirty="0"/>
              <a:t>Pandas</a:t>
            </a:r>
            <a:r>
              <a:rPr lang="en-US" sz="1600" dirty="0"/>
              <a:t>: Executes operations immediately when called, which can be </a:t>
            </a:r>
            <a:r>
              <a:rPr lang="en-US" sz="1600" dirty="0">
                <a:solidFill>
                  <a:schemeClr val="accent2">
                    <a:lumMod val="75000"/>
                  </a:schemeClr>
                </a:solidFill>
              </a:rPr>
              <a:t>inefficient in cases where multiple operations are chained together.</a:t>
            </a:r>
          </a:p>
          <a:p>
            <a:pPr marL="742950" lvl="1" indent="-285750">
              <a:buFont typeface="+mj-lt"/>
              <a:buAutoNum type="arabicPeriod"/>
            </a:pPr>
            <a:r>
              <a:rPr lang="en-US" sz="1600" b="1" dirty="0"/>
              <a:t>Polars</a:t>
            </a:r>
            <a:r>
              <a:rPr lang="en-US" sz="1600" dirty="0"/>
              <a:t>: Supports lazy evaluation where operations are not executed immediately but are </a:t>
            </a:r>
            <a:r>
              <a:rPr lang="en-US" sz="1600" dirty="0">
                <a:solidFill>
                  <a:schemeClr val="accent6"/>
                </a:solidFill>
              </a:rPr>
              <a:t>optimized and executed only when needed.</a:t>
            </a:r>
            <a:r>
              <a:rPr lang="en-US" sz="1600" dirty="0"/>
              <a:t> This can lead to better performance especially in complex data pipelines.</a:t>
            </a:r>
          </a:p>
          <a:p>
            <a:pPr>
              <a:buFont typeface="+mj-lt"/>
              <a:buAutoNum type="arabicPeriod"/>
            </a:pPr>
            <a:r>
              <a:rPr lang="en-US" sz="1600" b="1" dirty="0"/>
              <a:t>Memory Management</a:t>
            </a:r>
            <a:r>
              <a:rPr lang="en-US" sz="1600" dirty="0"/>
              <a:t>:</a:t>
            </a:r>
          </a:p>
          <a:p>
            <a:pPr marL="742950" lvl="1" indent="-285750">
              <a:buFont typeface="+mj-lt"/>
              <a:buAutoNum type="arabicPeriod"/>
            </a:pPr>
            <a:r>
              <a:rPr lang="en-US" sz="1600" b="1" dirty="0"/>
              <a:t>Pandas</a:t>
            </a:r>
            <a:r>
              <a:rPr lang="en-US" sz="1600" dirty="0"/>
              <a:t>: Can </a:t>
            </a:r>
            <a:r>
              <a:rPr lang="en-US" sz="1600" dirty="0">
                <a:solidFill>
                  <a:schemeClr val="accent2">
                    <a:lumMod val="75000"/>
                  </a:schemeClr>
                </a:solidFill>
              </a:rPr>
              <a:t>sometimes use memory inefficiently</a:t>
            </a:r>
            <a:r>
              <a:rPr lang="en-US" sz="1600" dirty="0"/>
              <a:t>, particularly with operations that involve copying data.</a:t>
            </a:r>
          </a:p>
          <a:p>
            <a:pPr marL="742950" lvl="1" indent="-285750">
              <a:buFont typeface="+mj-lt"/>
              <a:buAutoNum type="arabicPeriod"/>
            </a:pPr>
            <a:r>
              <a:rPr lang="en-US" sz="1600" b="1" dirty="0"/>
              <a:t>Polars</a:t>
            </a:r>
            <a:r>
              <a:rPr lang="en-US" sz="1600" dirty="0"/>
              <a:t>: More </a:t>
            </a:r>
            <a:r>
              <a:rPr lang="en-US" sz="1600" dirty="0">
                <a:solidFill>
                  <a:schemeClr val="accent6"/>
                </a:solidFill>
              </a:rPr>
              <a:t>efficient with memory due to its columnar approach </a:t>
            </a:r>
            <a:r>
              <a:rPr lang="en-US" sz="1600" dirty="0"/>
              <a:t>and built-in optimizations that minimize unnecessary data duplication.</a:t>
            </a:r>
          </a:p>
          <a:p>
            <a:endParaRPr lang="en-US" dirty="0"/>
          </a:p>
        </p:txBody>
      </p:sp>
    </p:spTree>
    <p:extLst>
      <p:ext uri="{BB962C8B-B14F-4D97-AF65-F5344CB8AC3E}">
        <p14:creationId xmlns:p14="http://schemas.microsoft.com/office/powerpoint/2010/main" val="3707181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59E26FC-F348-965D-430F-3591BFC5EEB8}"/>
              </a:ext>
            </a:extLst>
          </p:cNvPr>
          <p:cNvGraphicFramePr>
            <a:graphicFrameLocks noChangeAspect="1"/>
          </p:cNvGraphicFramePr>
          <p:nvPr>
            <p:custDataLst>
              <p:tags r:id="rId1"/>
            </p:custDataLst>
            <p:extLst>
              <p:ext uri="{D42A27DB-BD31-4B8C-83A1-F6EECF244321}">
                <p14:modId xmlns:p14="http://schemas.microsoft.com/office/powerpoint/2010/main" val="26850786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useBgFill="1">
        <p:nvSpPr>
          <p:cNvPr id="9" name="Rectangle 8">
            <a:extLst>
              <a:ext uri="{FF2B5EF4-FFF2-40B4-BE49-F238E27FC236}">
                <a16:creationId xmlns:a16="http://schemas.microsoft.com/office/drawing/2014/main" id="{963038BC-9FCB-466B-8EE5-7B0DC8F25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58F4797-C77D-4821-B8FF-057D7524C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0CB3DB-B42E-47BF-A595-527CB329A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515" y="685800"/>
            <a:ext cx="10800971"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D7354B-B79E-9FD4-7FCD-0C2839D5FC1C}"/>
              </a:ext>
            </a:extLst>
          </p:cNvPr>
          <p:cNvSpPr>
            <a:spLocks noGrp="1"/>
          </p:cNvSpPr>
          <p:nvPr>
            <p:ph type="title"/>
          </p:nvPr>
        </p:nvSpPr>
        <p:spPr>
          <a:xfrm>
            <a:off x="1449572" y="1036674"/>
            <a:ext cx="9292856" cy="1371600"/>
          </a:xfrm>
        </p:spPr>
        <p:txBody>
          <a:bodyPr vert="horz">
            <a:normAutofit/>
          </a:bodyPr>
          <a:lstStyle/>
          <a:p>
            <a:pPr algn="ctr"/>
            <a:r>
              <a:rPr lang="en-US" sz="3200" dirty="0">
                <a:solidFill>
                  <a:schemeClr val="tx1">
                    <a:lumMod val="65000"/>
                    <a:lumOff val="35000"/>
                  </a:schemeClr>
                </a:solidFill>
              </a:rPr>
              <a:t>Function Comparison</a:t>
            </a:r>
          </a:p>
        </p:txBody>
      </p:sp>
      <p:sp>
        <p:nvSpPr>
          <p:cNvPr id="12" name="TextBox 11">
            <a:extLst>
              <a:ext uri="{FF2B5EF4-FFF2-40B4-BE49-F238E27FC236}">
                <a16:creationId xmlns:a16="http://schemas.microsoft.com/office/drawing/2014/main" id="{F346C68E-3742-FAC5-46D0-CBC14B2D08BF}"/>
              </a:ext>
            </a:extLst>
          </p:cNvPr>
          <p:cNvSpPr txBox="1"/>
          <p:nvPr/>
        </p:nvSpPr>
        <p:spPr>
          <a:xfrm>
            <a:off x="1009161" y="4526521"/>
            <a:ext cx="4749801" cy="769441"/>
          </a:xfrm>
          <a:prstGeom prst="rect">
            <a:avLst/>
          </a:prstGeom>
          <a:noFill/>
        </p:spPr>
        <p:txBody>
          <a:bodyPr wrap="square">
            <a:spAutoFit/>
          </a:bodyPr>
          <a:lstStyle/>
          <a:p>
            <a:r>
              <a:rPr lang="en-US" sz="1100" dirty="0"/>
              <a:t>Operation | 	</a:t>
            </a:r>
            <a:r>
              <a:rPr lang="en-US" sz="1100" b="1" dirty="0"/>
              <a:t>               Pandas 	</a:t>
            </a:r>
            <a:r>
              <a:rPr lang="en-US" sz="1100" dirty="0"/>
              <a:t>| </a:t>
            </a:r>
            <a:r>
              <a:rPr lang="en-US" sz="1100" b="1" dirty="0"/>
              <a:t>Polars</a:t>
            </a:r>
          </a:p>
          <a:p>
            <a:r>
              <a:rPr lang="en-US" sz="1100" dirty="0"/>
              <a:t>Create </a:t>
            </a:r>
            <a:r>
              <a:rPr lang="en-US" sz="1100" dirty="0" err="1"/>
              <a:t>DataFrame</a:t>
            </a:r>
            <a:r>
              <a:rPr lang="en-US" sz="1100" dirty="0"/>
              <a:t> |     </a:t>
            </a:r>
            <a:r>
              <a:rPr lang="en-US" sz="1100" dirty="0" err="1"/>
              <a:t>pd.DataFrame</a:t>
            </a:r>
            <a:r>
              <a:rPr lang="en-US" sz="1100" dirty="0"/>
              <a:t>(data)     	| </a:t>
            </a:r>
            <a:r>
              <a:rPr lang="en-US" sz="1100" dirty="0" err="1"/>
              <a:t>pl.DataFrame</a:t>
            </a:r>
            <a:r>
              <a:rPr lang="en-US" sz="1100" dirty="0"/>
              <a:t>(data)</a:t>
            </a:r>
          </a:p>
          <a:p>
            <a:r>
              <a:rPr lang="en-US" sz="1100" dirty="0"/>
              <a:t>Show schema / types | </a:t>
            </a:r>
            <a:r>
              <a:rPr lang="en-US" sz="1100" dirty="0" err="1"/>
              <a:t>df.dtypes</a:t>
            </a:r>
            <a:r>
              <a:rPr lang="en-US" sz="1100" dirty="0"/>
              <a:t> 	| </a:t>
            </a:r>
            <a:r>
              <a:rPr lang="en-US" sz="1100" dirty="0" err="1"/>
              <a:t>df.schema</a:t>
            </a:r>
            <a:endParaRPr lang="en-US" sz="1100" dirty="0"/>
          </a:p>
          <a:p>
            <a:r>
              <a:rPr lang="en-US" sz="1100" dirty="0"/>
              <a:t>Head / Tail | </a:t>
            </a:r>
            <a:r>
              <a:rPr lang="en-US" sz="1100" dirty="0" err="1"/>
              <a:t>df.head</a:t>
            </a:r>
            <a:r>
              <a:rPr lang="en-US" sz="1100" dirty="0"/>
              <a:t>(), </a:t>
            </a:r>
            <a:r>
              <a:rPr lang="en-US" sz="1100" dirty="0" err="1"/>
              <a:t>df.tail</a:t>
            </a:r>
            <a:r>
              <a:rPr lang="en-US" sz="1100" dirty="0"/>
              <a:t>() 		| Same in Polars</a:t>
            </a:r>
          </a:p>
        </p:txBody>
      </p:sp>
      <p:sp>
        <p:nvSpPr>
          <p:cNvPr id="20" name="TextBox 19">
            <a:extLst>
              <a:ext uri="{FF2B5EF4-FFF2-40B4-BE49-F238E27FC236}">
                <a16:creationId xmlns:a16="http://schemas.microsoft.com/office/drawing/2014/main" id="{3D22AF83-BC9D-36D3-CD45-2FE1730D9EC9}"/>
              </a:ext>
            </a:extLst>
          </p:cNvPr>
          <p:cNvSpPr txBox="1"/>
          <p:nvPr/>
        </p:nvSpPr>
        <p:spPr>
          <a:xfrm>
            <a:off x="1009161" y="2606293"/>
            <a:ext cx="3677645" cy="938719"/>
          </a:xfrm>
          <a:prstGeom prst="rect">
            <a:avLst/>
          </a:prstGeom>
          <a:noFill/>
        </p:spPr>
        <p:txBody>
          <a:bodyPr wrap="square">
            <a:spAutoFit/>
          </a:bodyPr>
          <a:lstStyle/>
          <a:p>
            <a:r>
              <a:rPr lang="en-US" sz="1100" dirty="0"/>
              <a:t>Operation | 	</a:t>
            </a:r>
            <a:r>
              <a:rPr lang="en-US" sz="1100" b="1" dirty="0"/>
              <a:t>Pandas </a:t>
            </a:r>
            <a:r>
              <a:rPr lang="en-US" sz="1100" dirty="0"/>
              <a:t>	    | </a:t>
            </a:r>
            <a:r>
              <a:rPr lang="en-US" sz="1100" b="1" dirty="0"/>
              <a:t>Polars</a:t>
            </a:r>
          </a:p>
          <a:p>
            <a:r>
              <a:rPr lang="en-US" sz="1100" dirty="0"/>
              <a:t>Read CSV | 	</a:t>
            </a:r>
            <a:r>
              <a:rPr lang="en-US" sz="1100" dirty="0" err="1"/>
              <a:t>pd.read_csv</a:t>
            </a:r>
            <a:r>
              <a:rPr lang="en-US" sz="1100" dirty="0"/>
              <a:t>() 	    | </a:t>
            </a:r>
            <a:r>
              <a:rPr lang="en-US" sz="1100" dirty="0" err="1"/>
              <a:t>pl.read_csv</a:t>
            </a:r>
            <a:r>
              <a:rPr lang="en-US" sz="1100" dirty="0"/>
              <a:t>()</a:t>
            </a:r>
          </a:p>
          <a:p>
            <a:r>
              <a:rPr lang="en-US" sz="1100" dirty="0"/>
              <a:t>Read JSON | 	</a:t>
            </a:r>
            <a:r>
              <a:rPr lang="en-US" sz="1100" dirty="0" err="1"/>
              <a:t>pd.read_json</a:t>
            </a:r>
            <a:r>
              <a:rPr lang="en-US" sz="1100" dirty="0"/>
              <a:t>()     | </a:t>
            </a:r>
            <a:r>
              <a:rPr lang="en-US" sz="1100" dirty="0" err="1"/>
              <a:t>pl.read_json</a:t>
            </a:r>
            <a:r>
              <a:rPr lang="en-US" sz="1100" dirty="0"/>
              <a:t>()</a:t>
            </a:r>
          </a:p>
          <a:p>
            <a:r>
              <a:rPr lang="en-US" sz="1100" dirty="0"/>
              <a:t>Write CSV | 	</a:t>
            </a:r>
            <a:r>
              <a:rPr lang="en-US" sz="1100" dirty="0" err="1"/>
              <a:t>df.to_csv</a:t>
            </a:r>
            <a:r>
              <a:rPr lang="en-US" sz="1100" dirty="0"/>
              <a:t>() 	   | </a:t>
            </a:r>
            <a:r>
              <a:rPr lang="en-US" sz="1100" dirty="0" err="1"/>
              <a:t>df.write_csv</a:t>
            </a:r>
            <a:r>
              <a:rPr lang="en-US" sz="1100" dirty="0"/>
              <a:t>()</a:t>
            </a:r>
          </a:p>
          <a:p>
            <a:r>
              <a:rPr lang="en-US" sz="1100" dirty="0"/>
              <a:t>Write Parquet | </a:t>
            </a:r>
            <a:r>
              <a:rPr lang="en-US" sz="1100" dirty="0" err="1"/>
              <a:t>df.to_parquet</a:t>
            </a:r>
            <a:r>
              <a:rPr lang="en-US" sz="1100" dirty="0"/>
              <a:t>()    | </a:t>
            </a:r>
            <a:r>
              <a:rPr lang="en-US" sz="1100" dirty="0" err="1"/>
              <a:t>df.write_parquet</a:t>
            </a:r>
            <a:r>
              <a:rPr lang="en-US" sz="1100" dirty="0"/>
              <a:t>()</a:t>
            </a:r>
          </a:p>
        </p:txBody>
      </p:sp>
      <p:sp>
        <p:nvSpPr>
          <p:cNvPr id="23" name="TextBox 22">
            <a:extLst>
              <a:ext uri="{FF2B5EF4-FFF2-40B4-BE49-F238E27FC236}">
                <a16:creationId xmlns:a16="http://schemas.microsoft.com/office/drawing/2014/main" id="{5937FB9A-91DB-5CA6-EA00-BFE41B08D331}"/>
              </a:ext>
            </a:extLst>
          </p:cNvPr>
          <p:cNvSpPr txBox="1"/>
          <p:nvPr/>
        </p:nvSpPr>
        <p:spPr>
          <a:xfrm>
            <a:off x="5609766" y="2659559"/>
            <a:ext cx="5132662" cy="769441"/>
          </a:xfrm>
          <a:prstGeom prst="rect">
            <a:avLst/>
          </a:prstGeom>
          <a:noFill/>
        </p:spPr>
        <p:txBody>
          <a:bodyPr wrap="square">
            <a:spAutoFit/>
          </a:bodyPr>
          <a:lstStyle/>
          <a:p>
            <a:r>
              <a:rPr lang="en-US" sz="1100" dirty="0"/>
              <a:t>Operation | 	   </a:t>
            </a:r>
            <a:r>
              <a:rPr lang="en-US" sz="1100" b="1" dirty="0"/>
              <a:t>Pandas  </a:t>
            </a:r>
            <a:r>
              <a:rPr lang="en-US" sz="1100" dirty="0"/>
              <a:t>	         	| </a:t>
            </a:r>
            <a:r>
              <a:rPr lang="en-US" sz="1100" b="1" dirty="0"/>
              <a:t>Polars</a:t>
            </a:r>
          </a:p>
          <a:p>
            <a:r>
              <a:rPr lang="en-US" sz="1100" dirty="0"/>
              <a:t>Column select |  </a:t>
            </a:r>
            <a:r>
              <a:rPr lang="en-US" sz="1100" dirty="0" err="1"/>
              <a:t>df</a:t>
            </a:r>
            <a:r>
              <a:rPr lang="en-US" sz="1100" dirty="0"/>
              <a:t>['col']  	         	| </a:t>
            </a:r>
            <a:r>
              <a:rPr lang="en-US" sz="1100" dirty="0" err="1"/>
              <a:t>df.select</a:t>
            </a:r>
            <a:r>
              <a:rPr lang="en-US" sz="1100" dirty="0"/>
              <a:t>('col') or </a:t>
            </a:r>
            <a:r>
              <a:rPr lang="en-US" sz="1100" dirty="0" err="1"/>
              <a:t>df</a:t>
            </a:r>
            <a:r>
              <a:rPr lang="en-US" sz="1100" dirty="0"/>
              <a:t>['col']</a:t>
            </a:r>
          </a:p>
          <a:p>
            <a:r>
              <a:rPr lang="en-US" sz="1100" dirty="0"/>
              <a:t>Row filter | 	   </a:t>
            </a:r>
            <a:r>
              <a:rPr lang="en-US" sz="1100" dirty="0" err="1"/>
              <a:t>df</a:t>
            </a:r>
            <a:r>
              <a:rPr lang="en-US" sz="1100" dirty="0"/>
              <a:t>[</a:t>
            </a:r>
            <a:r>
              <a:rPr lang="en-US" sz="1100" dirty="0" err="1"/>
              <a:t>df</a:t>
            </a:r>
            <a:r>
              <a:rPr lang="en-US" sz="1100" dirty="0"/>
              <a:t>['col'] &gt; 10]     	| </a:t>
            </a:r>
            <a:r>
              <a:rPr lang="en-US" sz="1100" dirty="0" err="1"/>
              <a:t>df.filter</a:t>
            </a:r>
            <a:r>
              <a:rPr lang="en-US" sz="1100" dirty="0"/>
              <a:t>(</a:t>
            </a:r>
            <a:r>
              <a:rPr lang="en-US" sz="1100" dirty="0" err="1"/>
              <a:t>pl.col</a:t>
            </a:r>
            <a:r>
              <a:rPr lang="en-US" sz="1100" dirty="0"/>
              <a:t>('col') &gt; 10)</a:t>
            </a:r>
          </a:p>
          <a:p>
            <a:r>
              <a:rPr lang="en-US" sz="1100" dirty="0"/>
              <a:t>Multiple filters |   </a:t>
            </a:r>
            <a:r>
              <a:rPr lang="en-US" sz="1100" dirty="0" err="1"/>
              <a:t>df</a:t>
            </a:r>
            <a:r>
              <a:rPr lang="en-US" sz="1100" dirty="0"/>
              <a:t>[(cond1) &amp; (cond2)] 	| </a:t>
            </a:r>
            <a:r>
              <a:rPr lang="en-US" sz="1100" dirty="0" err="1"/>
              <a:t>df.filter</a:t>
            </a:r>
            <a:r>
              <a:rPr lang="en-US" sz="1100" dirty="0"/>
              <a:t>((cond1) &amp; (cond2))</a:t>
            </a:r>
          </a:p>
        </p:txBody>
      </p:sp>
      <p:sp>
        <p:nvSpPr>
          <p:cNvPr id="26" name="TextBox 25">
            <a:extLst>
              <a:ext uri="{FF2B5EF4-FFF2-40B4-BE49-F238E27FC236}">
                <a16:creationId xmlns:a16="http://schemas.microsoft.com/office/drawing/2014/main" id="{6B4FBF7E-0EBC-C16F-2FE0-F0570100797E}"/>
              </a:ext>
            </a:extLst>
          </p:cNvPr>
          <p:cNvSpPr txBox="1"/>
          <p:nvPr/>
        </p:nvSpPr>
        <p:spPr>
          <a:xfrm>
            <a:off x="5609766" y="4526520"/>
            <a:ext cx="5132661" cy="769441"/>
          </a:xfrm>
          <a:prstGeom prst="rect">
            <a:avLst/>
          </a:prstGeom>
          <a:noFill/>
        </p:spPr>
        <p:txBody>
          <a:bodyPr wrap="square">
            <a:spAutoFit/>
          </a:bodyPr>
          <a:lstStyle/>
          <a:p>
            <a:r>
              <a:rPr lang="en-US" sz="1100" dirty="0"/>
              <a:t>Operation | 	</a:t>
            </a:r>
            <a:r>
              <a:rPr lang="en-US" sz="1100" b="1" dirty="0"/>
              <a:t>Pandas </a:t>
            </a:r>
            <a:r>
              <a:rPr lang="en-US" sz="1100" dirty="0"/>
              <a:t>		| </a:t>
            </a:r>
            <a:r>
              <a:rPr lang="en-US" sz="1100" b="1" dirty="0"/>
              <a:t>Polars</a:t>
            </a:r>
          </a:p>
          <a:p>
            <a:r>
              <a:rPr lang="en-US" sz="1100" dirty="0"/>
              <a:t>Merge | 	</a:t>
            </a:r>
            <a:r>
              <a:rPr lang="en-US" sz="1100" dirty="0" err="1"/>
              <a:t>pd.merge</a:t>
            </a:r>
            <a:r>
              <a:rPr lang="en-US" sz="1100" dirty="0"/>
              <a:t>(df1, df2, ...)	| df1.join(df2, on=..., how='...')</a:t>
            </a:r>
          </a:p>
          <a:p>
            <a:r>
              <a:rPr lang="en-US" sz="1100" dirty="0"/>
              <a:t>Join Types | 'inner', 'left', etc. 		| Same</a:t>
            </a:r>
          </a:p>
          <a:p>
            <a:r>
              <a:rPr lang="en-US" sz="1100" dirty="0"/>
              <a:t>As-of Join | </a:t>
            </a:r>
            <a:r>
              <a:rPr lang="en-US" sz="1100" dirty="0" err="1"/>
              <a:t>pd.merge_asof</a:t>
            </a:r>
            <a:r>
              <a:rPr lang="en-US" sz="1100" dirty="0"/>
              <a:t>() 		| df1.join_asof(df2, ...)</a:t>
            </a:r>
          </a:p>
        </p:txBody>
      </p:sp>
      <p:cxnSp>
        <p:nvCxnSpPr>
          <p:cNvPr id="28" name="Straight Connector 27">
            <a:extLst>
              <a:ext uri="{FF2B5EF4-FFF2-40B4-BE49-F238E27FC236}">
                <a16:creationId xmlns:a16="http://schemas.microsoft.com/office/drawing/2014/main" id="{00816505-E951-10F7-CEB2-BA6B1449C922}"/>
              </a:ext>
            </a:extLst>
          </p:cNvPr>
          <p:cNvCxnSpPr/>
          <p:nvPr/>
        </p:nvCxnSpPr>
        <p:spPr>
          <a:xfrm>
            <a:off x="5424854" y="2476569"/>
            <a:ext cx="0" cy="3499338"/>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B56D1E4-DD08-4E51-7190-BA8257ACA491}"/>
              </a:ext>
            </a:extLst>
          </p:cNvPr>
          <p:cNvCxnSpPr>
            <a:cxnSpLocks/>
          </p:cNvCxnSpPr>
          <p:nvPr/>
        </p:nvCxnSpPr>
        <p:spPr>
          <a:xfrm>
            <a:off x="1009161" y="3930162"/>
            <a:ext cx="9207501" cy="26046"/>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61820266-9A33-62E6-CF53-442A2B010123}"/>
              </a:ext>
            </a:extLst>
          </p:cNvPr>
          <p:cNvSpPr txBox="1"/>
          <p:nvPr/>
        </p:nvSpPr>
        <p:spPr>
          <a:xfrm>
            <a:off x="929787" y="2231517"/>
            <a:ext cx="2921242" cy="369332"/>
          </a:xfrm>
          <a:prstGeom prst="rect">
            <a:avLst/>
          </a:prstGeom>
          <a:noFill/>
        </p:spPr>
        <p:txBody>
          <a:bodyPr wrap="square">
            <a:spAutoFit/>
          </a:bodyPr>
          <a:lstStyle/>
          <a:p>
            <a:r>
              <a:rPr lang="en-US" dirty="0"/>
              <a:t>Data Loading / I/O</a:t>
            </a:r>
          </a:p>
        </p:txBody>
      </p:sp>
      <p:sp>
        <p:nvSpPr>
          <p:cNvPr id="35" name="TextBox 34">
            <a:extLst>
              <a:ext uri="{FF2B5EF4-FFF2-40B4-BE49-F238E27FC236}">
                <a16:creationId xmlns:a16="http://schemas.microsoft.com/office/drawing/2014/main" id="{CF395245-3B9C-14A9-6C81-F2E2707D68CA}"/>
              </a:ext>
            </a:extLst>
          </p:cNvPr>
          <p:cNvSpPr txBox="1"/>
          <p:nvPr/>
        </p:nvSpPr>
        <p:spPr>
          <a:xfrm>
            <a:off x="5524869" y="2197176"/>
            <a:ext cx="2947621" cy="369332"/>
          </a:xfrm>
          <a:prstGeom prst="rect">
            <a:avLst/>
          </a:prstGeom>
          <a:noFill/>
        </p:spPr>
        <p:txBody>
          <a:bodyPr wrap="square">
            <a:spAutoFit/>
          </a:bodyPr>
          <a:lstStyle/>
          <a:p>
            <a:r>
              <a:rPr lang="en-US" dirty="0"/>
              <a:t>Data Selection &amp; Filtering</a:t>
            </a:r>
          </a:p>
        </p:txBody>
      </p:sp>
      <p:sp>
        <p:nvSpPr>
          <p:cNvPr id="37" name="TextBox 36">
            <a:extLst>
              <a:ext uri="{FF2B5EF4-FFF2-40B4-BE49-F238E27FC236}">
                <a16:creationId xmlns:a16="http://schemas.microsoft.com/office/drawing/2014/main" id="{C08E10C1-A1FB-F8D2-8611-BBE5015A4780}"/>
              </a:ext>
            </a:extLst>
          </p:cNvPr>
          <p:cNvSpPr txBox="1"/>
          <p:nvPr/>
        </p:nvSpPr>
        <p:spPr>
          <a:xfrm>
            <a:off x="856619" y="4122737"/>
            <a:ext cx="3277329" cy="369332"/>
          </a:xfrm>
          <a:prstGeom prst="rect">
            <a:avLst/>
          </a:prstGeom>
          <a:noFill/>
        </p:spPr>
        <p:txBody>
          <a:bodyPr wrap="square">
            <a:spAutoFit/>
          </a:bodyPr>
          <a:lstStyle/>
          <a:p>
            <a:r>
              <a:rPr lang="en-US" dirty="0" err="1"/>
              <a:t>DataFrame</a:t>
            </a:r>
            <a:r>
              <a:rPr lang="en-US" dirty="0"/>
              <a:t> Creation &amp; Info</a:t>
            </a:r>
          </a:p>
        </p:txBody>
      </p:sp>
      <p:sp>
        <p:nvSpPr>
          <p:cNvPr id="39" name="TextBox 38">
            <a:extLst>
              <a:ext uri="{FF2B5EF4-FFF2-40B4-BE49-F238E27FC236}">
                <a16:creationId xmlns:a16="http://schemas.microsoft.com/office/drawing/2014/main" id="{09E1564C-D7E6-D755-BBCB-069AEBBECB3E}"/>
              </a:ext>
            </a:extLst>
          </p:cNvPr>
          <p:cNvSpPr txBox="1"/>
          <p:nvPr/>
        </p:nvSpPr>
        <p:spPr>
          <a:xfrm>
            <a:off x="5609766" y="4088396"/>
            <a:ext cx="2496737" cy="369332"/>
          </a:xfrm>
          <a:prstGeom prst="rect">
            <a:avLst/>
          </a:prstGeom>
          <a:noFill/>
        </p:spPr>
        <p:txBody>
          <a:bodyPr wrap="square">
            <a:spAutoFit/>
          </a:bodyPr>
          <a:lstStyle/>
          <a:p>
            <a:r>
              <a:rPr lang="en-US" dirty="0"/>
              <a:t>Joining &amp; Merging</a:t>
            </a:r>
          </a:p>
        </p:txBody>
      </p:sp>
    </p:spTree>
    <p:extLst>
      <p:ext uri="{BB962C8B-B14F-4D97-AF65-F5344CB8AC3E}">
        <p14:creationId xmlns:p14="http://schemas.microsoft.com/office/powerpoint/2010/main" val="303857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49FDA89-2BE7-F3B1-B947-20A4F2C245D8}"/>
              </a:ext>
            </a:extLst>
          </p:cNvPr>
          <p:cNvGraphicFramePr>
            <a:graphicFrameLocks noChangeAspect="1"/>
          </p:cNvGraphicFramePr>
          <p:nvPr>
            <p:custDataLst>
              <p:tags r:id="rId1"/>
            </p:custDataLst>
            <p:extLst>
              <p:ext uri="{D42A27DB-BD31-4B8C-83A1-F6EECF244321}">
                <p14:modId xmlns:p14="http://schemas.microsoft.com/office/powerpoint/2010/main" val="753424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0583AC9-21B1-202A-2DB7-BDDAC72FEFD8}"/>
              </a:ext>
            </a:extLst>
          </p:cNvPr>
          <p:cNvSpPr>
            <a:spLocks noGrp="1"/>
          </p:cNvSpPr>
          <p:nvPr>
            <p:ph type="title"/>
          </p:nvPr>
        </p:nvSpPr>
        <p:spPr/>
        <p:txBody>
          <a:bodyPr vert="horz"/>
          <a:lstStyle/>
          <a:p>
            <a:r>
              <a:rPr lang="en-US" dirty="0"/>
              <a:t>Summary</a:t>
            </a:r>
          </a:p>
        </p:txBody>
      </p:sp>
      <p:sp>
        <p:nvSpPr>
          <p:cNvPr id="3" name="Content Placeholder 2">
            <a:extLst>
              <a:ext uri="{FF2B5EF4-FFF2-40B4-BE49-F238E27FC236}">
                <a16:creationId xmlns:a16="http://schemas.microsoft.com/office/drawing/2014/main" id="{E5CC1173-F468-7CCE-84A4-9782F100BCBC}"/>
              </a:ext>
            </a:extLst>
          </p:cNvPr>
          <p:cNvSpPr>
            <a:spLocks noGrp="1"/>
          </p:cNvSpPr>
          <p:nvPr>
            <p:ph idx="1"/>
          </p:nvPr>
        </p:nvSpPr>
        <p:spPr/>
        <p:txBody>
          <a:bodyPr/>
          <a:lstStyle/>
          <a:p>
            <a:r>
              <a:rPr lang="en-US" sz="2800" dirty="0"/>
              <a:t>In summary, while pandas is an excellent tool for many data manipulation tasks, particularly for small to moderately sized datasets, Polars offers significant advantages in terms of performance and efficiency for larger datasets or when parallel processing capabilities are needed. Depending on the specific requirements of a project, one might be more suitable than the other.</a:t>
            </a:r>
          </a:p>
          <a:p>
            <a:endParaRPr lang="en-US" dirty="0"/>
          </a:p>
        </p:txBody>
      </p:sp>
    </p:spTree>
    <p:extLst>
      <p:ext uri="{BB962C8B-B14F-4D97-AF65-F5344CB8AC3E}">
        <p14:creationId xmlns:p14="http://schemas.microsoft.com/office/powerpoint/2010/main" val="920591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3277D1-7881-6E61-3B36-DAEFA1678460}"/>
              </a:ext>
            </a:extLst>
          </p:cNvPr>
          <p:cNvGraphicFramePr>
            <a:graphicFrameLocks noChangeAspect="1"/>
          </p:cNvGraphicFramePr>
          <p:nvPr>
            <p:custDataLst>
              <p:tags r:id="rId1"/>
            </p:custDataLst>
            <p:extLst>
              <p:ext uri="{D42A27DB-BD31-4B8C-83A1-F6EECF244321}">
                <p14:modId xmlns:p14="http://schemas.microsoft.com/office/powerpoint/2010/main" val="8559698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1A05D04-8075-8131-1AF9-42A295DB0A84}"/>
              </a:ext>
            </a:extLst>
          </p:cNvPr>
          <p:cNvSpPr>
            <a:spLocks noGrp="1"/>
          </p:cNvSpPr>
          <p:nvPr>
            <p:ph type="title"/>
          </p:nvPr>
        </p:nvSpPr>
        <p:spPr/>
        <p:txBody>
          <a:bodyPr vert="horz"/>
          <a:lstStyle/>
          <a:p>
            <a:r>
              <a:rPr lang="en-US" dirty="0"/>
              <a:t>References</a:t>
            </a:r>
          </a:p>
        </p:txBody>
      </p:sp>
      <p:sp>
        <p:nvSpPr>
          <p:cNvPr id="3" name="Content Placeholder 2">
            <a:extLst>
              <a:ext uri="{FF2B5EF4-FFF2-40B4-BE49-F238E27FC236}">
                <a16:creationId xmlns:a16="http://schemas.microsoft.com/office/drawing/2014/main" id="{4AF5C313-C931-148A-01B7-C1B7651B8FFF}"/>
              </a:ext>
            </a:extLst>
          </p:cNvPr>
          <p:cNvSpPr>
            <a:spLocks noGrp="1"/>
          </p:cNvSpPr>
          <p:nvPr>
            <p:ph idx="1"/>
          </p:nvPr>
        </p:nvSpPr>
        <p:spPr/>
        <p:txBody>
          <a:bodyPr/>
          <a:lstStyle/>
          <a:p>
            <a:r>
              <a:rPr lang="en-US" dirty="0">
                <a:hlinkClick r:id="rId5"/>
              </a:rPr>
              <a:t>https://docs.pola.rs/#key-features</a:t>
            </a:r>
            <a:endParaRPr lang="en-US" dirty="0"/>
          </a:p>
          <a:p>
            <a:r>
              <a:rPr lang="en-US" dirty="0">
                <a:hlinkClick r:id="rId6"/>
              </a:rPr>
              <a:t>https://realpython.com/polars-python/</a:t>
            </a:r>
            <a:endParaRPr lang="en-US" dirty="0"/>
          </a:p>
          <a:p>
            <a:r>
              <a:rPr lang="en-US" dirty="0">
                <a:hlinkClick r:id="rId7"/>
              </a:rPr>
              <a:t>https://cliffy-gardens.medium.com/using-python-polars-my-late-2024-review-da806618a102</a:t>
            </a:r>
            <a:endParaRPr lang="en-US" dirty="0"/>
          </a:p>
          <a:p>
            <a:r>
              <a:rPr lang="en-US" dirty="0">
                <a:hlinkClick r:id="rId8"/>
              </a:rPr>
              <a:t>https://stuffbyyuki.com/wp-content/uploads/2023/06/polars-vs-pandas-arrow-vs-pandas-1.png</a:t>
            </a:r>
            <a:endParaRPr lang="en-US" dirty="0"/>
          </a:p>
          <a:p>
            <a:r>
              <a:rPr lang="en-US" dirty="0">
                <a:hlinkClick r:id="rId9"/>
              </a:rPr>
              <a:t>https://en.wikipedia.org/wiki/Polar_coordinate_system#:~:text=The%20distance%20from%20the%20pole,to%20model%20using%20polar%20coordinates</a:t>
            </a:r>
            <a:r>
              <a:rPr lang="en-US" dirty="0"/>
              <a:t>.</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48664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776722E-4520-005B-AD65-6922D22D49A0}"/>
              </a:ext>
            </a:extLst>
          </p:cNvPr>
          <p:cNvGraphicFramePr>
            <a:graphicFrameLocks noChangeAspect="1"/>
          </p:cNvGraphicFramePr>
          <p:nvPr>
            <p:custDataLst>
              <p:tags r:id="rId1"/>
            </p:custDataLst>
            <p:extLst>
              <p:ext uri="{D42A27DB-BD31-4B8C-83A1-F6EECF244321}">
                <p14:modId xmlns:p14="http://schemas.microsoft.com/office/powerpoint/2010/main" val="4228134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D39B0E1-E603-018C-0D3C-2E95504C8543}"/>
              </a:ext>
            </a:extLst>
          </p:cNvPr>
          <p:cNvSpPr>
            <a:spLocks noGrp="1"/>
          </p:cNvSpPr>
          <p:nvPr>
            <p:ph type="title"/>
          </p:nvPr>
        </p:nvSpPr>
        <p:spPr/>
        <p:txBody>
          <a:bodyPr vert="horz"/>
          <a:lstStyle/>
          <a:p>
            <a:r>
              <a:rPr lang="en-US" dirty="0" err="1"/>
              <a:t>Apendix</a:t>
            </a:r>
            <a:endParaRPr lang="en-US" dirty="0"/>
          </a:p>
        </p:txBody>
      </p:sp>
      <p:sp>
        <p:nvSpPr>
          <p:cNvPr id="3" name="Content Placeholder 2">
            <a:extLst>
              <a:ext uri="{FF2B5EF4-FFF2-40B4-BE49-F238E27FC236}">
                <a16:creationId xmlns:a16="http://schemas.microsoft.com/office/drawing/2014/main" id="{331EECA9-D296-06AA-7613-7B9B00ECF7D1}"/>
              </a:ext>
            </a:extLst>
          </p:cNvPr>
          <p:cNvSpPr>
            <a:spLocks noGrp="1"/>
          </p:cNvSpPr>
          <p:nvPr>
            <p:ph idx="1"/>
          </p:nvPr>
        </p:nvSpPr>
        <p:spPr/>
        <p:txBody>
          <a:bodyPr>
            <a:normAutofit/>
          </a:bodyPr>
          <a:lstStyle/>
          <a:p>
            <a:r>
              <a:rPr lang="en-US" sz="1800" dirty="0"/>
              <a:t>The goal of Polars is to provide a lightning fast </a:t>
            </a:r>
            <a:r>
              <a:rPr lang="en-US" sz="1800" dirty="0" err="1"/>
              <a:t>DataFrame</a:t>
            </a:r>
            <a:r>
              <a:rPr lang="en-US" sz="1800" dirty="0"/>
              <a:t> library that:</a:t>
            </a:r>
          </a:p>
          <a:p>
            <a:endParaRPr lang="en-US" sz="1800" dirty="0"/>
          </a:p>
          <a:p>
            <a:r>
              <a:rPr lang="en-US" sz="1800" dirty="0"/>
              <a:t>Utilizes all available cores on your machine.</a:t>
            </a:r>
          </a:p>
          <a:p>
            <a:r>
              <a:rPr lang="en-US" sz="1800" dirty="0"/>
              <a:t>Optimizes queries to reduce unneeded work/memory allocations.</a:t>
            </a:r>
          </a:p>
          <a:p>
            <a:r>
              <a:rPr lang="en-US" sz="1800" dirty="0"/>
              <a:t>Handles datasets much larger than your available RAM.</a:t>
            </a:r>
          </a:p>
          <a:p>
            <a:r>
              <a:rPr lang="en-US" sz="1800" dirty="0"/>
              <a:t>A consistent and predictable API.</a:t>
            </a:r>
          </a:p>
          <a:p>
            <a:r>
              <a:rPr lang="en-US" sz="1800" dirty="0"/>
              <a:t>Adheres to a strict schema (data-types should be known before running the query).</a:t>
            </a:r>
          </a:p>
          <a:p>
            <a:r>
              <a:rPr lang="en-US" sz="1800" dirty="0"/>
              <a:t>Polars is written in Rust which gives it C/C++ performance and allows it to fully control performance-critical parts in a query engine.</a:t>
            </a:r>
          </a:p>
        </p:txBody>
      </p:sp>
    </p:spTree>
    <p:extLst>
      <p:ext uri="{BB962C8B-B14F-4D97-AF65-F5344CB8AC3E}">
        <p14:creationId xmlns:p14="http://schemas.microsoft.com/office/powerpoint/2010/main" val="12439775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10176</TotalTime>
  <Words>1519</Words>
  <Application>Microsoft Office PowerPoint</Application>
  <PresentationFormat>Widescreen</PresentationFormat>
  <Paragraphs>87</Paragraphs>
  <Slides>11</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6" baseType="lpstr">
      <vt:lpstr>Aptos</vt:lpstr>
      <vt:lpstr>Aptos Display</vt:lpstr>
      <vt:lpstr>Arial</vt:lpstr>
      <vt:lpstr>Office Theme</vt:lpstr>
      <vt:lpstr>think-cell Slide</vt:lpstr>
      <vt:lpstr>Polars Python Library Overview</vt:lpstr>
      <vt:lpstr>What is Polars Library</vt:lpstr>
      <vt:lpstr>Key Characteristics of Polars</vt:lpstr>
      <vt:lpstr>Performance Comparison Results</vt:lpstr>
      <vt:lpstr>Polars Use Cases</vt:lpstr>
      <vt:lpstr>How is Polars Different than Pandas</vt:lpstr>
      <vt:lpstr>How is Polars Different than Pandas</vt:lpstr>
      <vt:lpstr>Function Comparison</vt:lpstr>
      <vt:lpstr>Summary</vt:lpstr>
      <vt:lpstr>References</vt:lpstr>
      <vt:lpstr>Apendix</vt:lpstr>
    </vt:vector>
  </TitlesOfParts>
  <Company>BCG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Dallvo, Genti</dc:creator>
  <cp:lastModifiedBy>Dallvo, Genti</cp:lastModifiedBy>
  <cp:revision>5</cp:revision>
  <dcterms:created xsi:type="dcterms:W3CDTF">2025-04-02T01:10:39Z</dcterms:created>
  <dcterms:modified xsi:type="dcterms:W3CDTF">2025-05-02T02:25:06Z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d5c4f4-7a29-4385-b7a5-afbe2154ae6f_Enabled">
    <vt:lpwstr>true</vt:lpwstr>
  </property>
  <property fmtid="{D5CDD505-2E9C-101B-9397-08002B2CF9AE}" pid="3" name="MSIP_Label_b0d5c4f4-7a29-4385-b7a5-afbe2154ae6f_SetDate">
    <vt:lpwstr>2025-04-02T01:16:36Z</vt:lpwstr>
  </property>
  <property fmtid="{D5CDD505-2E9C-101B-9397-08002B2CF9AE}" pid="4" name="MSIP_Label_b0d5c4f4-7a29-4385-b7a5-afbe2154ae6f_Method">
    <vt:lpwstr>Standard</vt:lpwstr>
  </property>
  <property fmtid="{D5CDD505-2E9C-101B-9397-08002B2CF9AE}" pid="5" name="MSIP_Label_b0d5c4f4-7a29-4385-b7a5-afbe2154ae6f_Name">
    <vt:lpwstr>Confidential</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ActionId">
    <vt:lpwstr>d2bbdfbc-31db-4d23-b1dc-d57fd6c4f8eb</vt:lpwstr>
  </property>
  <property fmtid="{D5CDD505-2E9C-101B-9397-08002B2CF9AE}" pid="8" name="MSIP_Label_b0d5c4f4-7a29-4385-b7a5-afbe2154ae6f_ContentBits">
    <vt:lpwstr>0</vt:lpwstr>
  </property>
  <property fmtid="{D5CDD505-2E9C-101B-9397-08002B2CF9AE}" pid="9" name="MSIP_Label_b0d5c4f4-7a29-4385-b7a5-afbe2154ae6f_Tag">
    <vt:lpwstr>10, 3, 0, 1</vt:lpwstr>
  </property>
</Properties>
</file>